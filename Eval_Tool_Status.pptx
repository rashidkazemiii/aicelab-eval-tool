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58" r:id="rId12"/>
    <p:sldId id="259" r:id="rId13"/>
    <p:sldId id="26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here we are" id="{18330F75-759E-F4E3-E904-F6D362849921}">
          <p14:sldIdLst>
            <p14:sldId id="256"/>
            <p14:sldId id="257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58"/>
            <p14:sldId id="259"/>
          </p14:sldIdLst>
        </p14:section>
        <p14:section name="Next steps" id="{1573419E-15AE-1A77-056D-5AA200112403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9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094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Eval Tool replaces the Excel/VBA workbook (Friction_Evaluation.xlsm) with a marimo web app. 108 files = 75 in data/collection, 21 Riga, 12 Schindler.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(copper) is where the static point is chosen. That is the step the AI work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card is the start of the AI feature and leads into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labelling tool is finished and works end to end. The limiting factor now is labelled data, not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1 and 2 need no new code apart from a small script that reads the label export. Step 3: begin with a gradient-boosted model on hand-made features (time since crossing, slope, local maxima, speed) before trying a 1D neural network. Keep the rule as the fallback when the model is unsure.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ICELAB Eval Tool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3"/>
                </a:solidFill>
              </a:rPr>
              <a:t>Automated coefficient-of-friction evaluation for SRV tribometer tests: status and next steps</a:t>
            </a:r>
            <a:endParaRPr lang="en-US" sz="1800" dirty="0"/>
          </a:p>
        </p:txBody>
      </p:sp>
      <p:sp>
        <p:nvSpPr>
          <p:cNvPr id="4" name="Stat card 1"/>
          <p:cNvSpPr/>
          <p:nvPr/>
        </p:nvSpPr>
        <p:spPr>
          <a:xfrm>
            <a:off x="548640" y="2606040"/>
            <a:ext cx="2468880" cy="1691640"/>
          </a:xfrm>
          <a:prstGeom prst="roundRect">
            <a:avLst>
              <a:gd name="adj" fmla="val 5405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 txBox="1"/>
          <p:nvPr/>
        </p:nvSpPr>
        <p:spPr>
          <a:xfrm>
            <a:off x="731520" y="2697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commits since May 2026</a:t>
            </a:r>
            <a:endParaRPr lang="en-US" sz="1300" dirty="0"/>
          </a:p>
        </p:txBody>
      </p:sp>
      <p:sp>
        <p:nvSpPr>
          <p:cNvPr id="7" name="Stat card 2"/>
          <p:cNvSpPr/>
          <p:nvPr/>
        </p:nvSpPr>
        <p:spPr>
          <a:xfrm>
            <a:off x="3291840" y="2606040"/>
            <a:ext cx="2468880" cy="1691640"/>
          </a:xfrm>
          <a:prstGeom prst="roundRect">
            <a:avLst>
              <a:gd name="adj" fmla="val 5405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 txBox="1"/>
          <p:nvPr/>
        </p:nvSpPr>
        <p:spPr>
          <a:xfrm>
            <a:off x="3474720" y="2697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raw test files on hand to evaluate and label</a:t>
            </a:r>
            <a:endParaRPr lang="en-US" sz="1300" dirty="0"/>
          </a:p>
        </p:txBody>
      </p:sp>
      <p:sp>
        <p:nvSpPr>
          <p:cNvPr id="10" name="Stat card 3"/>
          <p:cNvSpPr/>
          <p:nvPr/>
        </p:nvSpPr>
        <p:spPr>
          <a:xfrm>
            <a:off x="6035040" y="2606040"/>
            <a:ext cx="2468880" cy="1691640"/>
          </a:xfrm>
          <a:prstGeom prst="roundRect">
            <a:avLst>
              <a:gd name="adj" fmla="val 5405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 txBox="1"/>
          <p:nvPr/>
        </p:nvSpPr>
        <p:spPr>
          <a:xfrm>
            <a:off x="6217920" y="2697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ways to find the static peak: fixed window, speed pulse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October 2026 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From raw tribometer file to CoF in one pass</a:t>
            </a:r>
            <a:endParaRPr lang="en-US" sz="3000" dirty="0"/>
          </a:p>
        </p:txBody>
      </p:sp>
      <p:sp>
        <p:nvSpPr>
          <p:cNvPr id="3" name="Step dot 1"/>
          <p:cNvSpPr/>
          <p:nvPr/>
        </p:nvSpPr>
        <p:spPr>
          <a:xfrm>
            <a:off x="82296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 txBox="1"/>
          <p:nvPr/>
        </p:nvSpPr>
        <p:spPr>
          <a:xfrm>
            <a:off x="8229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Arrow 1"/>
          <p:cNvSpPr/>
          <p:nvPr/>
        </p:nvSpPr>
        <p:spPr>
          <a:xfrm>
            <a:off x="1426464" y="1600200"/>
            <a:ext cx="7315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Load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688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Raw SRV export: Links, Rechts, Belastung, Zeit, step table</a:t>
            </a:r>
            <a:endParaRPr lang="en-US" sz="1100" dirty="0"/>
          </a:p>
        </p:txBody>
      </p:sp>
      <p:sp>
        <p:nvSpPr>
          <p:cNvPr id="8" name="Step dot 2"/>
          <p:cNvSpPr/>
          <p:nvPr/>
        </p:nvSpPr>
        <p:spPr>
          <a:xfrm>
            <a:off x="2212848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 txBox="1"/>
          <p:nvPr/>
        </p:nvSpPr>
        <p:spPr>
          <a:xfrm>
            <a:off x="221284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Arrow 2"/>
          <p:cNvSpPr/>
          <p:nvPr/>
        </p:nvSpPr>
        <p:spPr>
          <a:xfrm>
            <a:off x="2816352" y="1600200"/>
            <a:ext cx="7315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 txBox="1"/>
          <p:nvPr/>
        </p:nvSpPr>
        <p:spPr>
          <a:xfrm>
            <a:off x="1847088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CoF per sample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847088" y="24688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μ = (F_L + F_R) / F_N, optional load correction λ</a:t>
            </a:r>
            <a:endParaRPr lang="en-US" sz="1100" dirty="0"/>
          </a:p>
        </p:txBody>
      </p:sp>
      <p:sp>
        <p:nvSpPr>
          <p:cNvPr id="13" name="Step dot 3"/>
          <p:cNvSpPr/>
          <p:nvPr/>
        </p:nvSpPr>
        <p:spPr>
          <a:xfrm>
            <a:off x="3602736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 txBox="1"/>
          <p:nvPr/>
        </p:nvSpPr>
        <p:spPr>
          <a:xfrm>
            <a:off x="360273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Arrow 3"/>
          <p:cNvSpPr/>
          <p:nvPr/>
        </p:nvSpPr>
        <p:spPr>
          <a:xfrm>
            <a:off x="4206240" y="1600200"/>
            <a:ext cx="7315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 txBox="1"/>
          <p:nvPr/>
        </p:nvSpPr>
        <p:spPr>
          <a:xfrm>
            <a:off x="3236976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Offset &amp; filter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36976" y="24688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Centre on zero; rolling median used only to find crossings</a:t>
            </a:r>
            <a:endParaRPr lang="en-US" sz="1100" dirty="0"/>
          </a:p>
        </p:txBody>
      </p:sp>
      <p:sp>
        <p:nvSpPr>
          <p:cNvPr id="18" name="Step dot 4"/>
          <p:cNvSpPr/>
          <p:nvPr/>
        </p:nvSpPr>
        <p:spPr>
          <a:xfrm>
            <a:off x="4992624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 txBox="1"/>
          <p:nvPr/>
        </p:nvSpPr>
        <p:spPr>
          <a:xfrm>
            <a:off x="499262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Arrow 4"/>
          <p:cNvSpPr/>
          <p:nvPr/>
        </p:nvSpPr>
        <p:spPr>
          <a:xfrm>
            <a:off x="5596128" y="1600200"/>
            <a:ext cx="7315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 txBox="1"/>
          <p:nvPr/>
        </p:nvSpPr>
        <p:spPr>
          <a:xfrm>
            <a:off x="4626864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Zero crossings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626864" y="24688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Each sign change = stroke reversal; pause gaps dropped</a:t>
            </a:r>
            <a:endParaRPr lang="en-US" sz="1100" dirty="0"/>
          </a:p>
        </p:txBody>
      </p:sp>
      <p:sp>
        <p:nvSpPr>
          <p:cNvPr id="23" name="Step dot 5"/>
          <p:cNvSpPr/>
          <p:nvPr/>
        </p:nvSpPr>
        <p:spPr>
          <a:xfrm>
            <a:off x="6382512" y="13258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 txBox="1"/>
          <p:nvPr/>
        </p:nvSpPr>
        <p:spPr>
          <a:xfrm>
            <a:off x="6382512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Arrow 5"/>
          <p:cNvSpPr/>
          <p:nvPr/>
        </p:nvSpPr>
        <p:spPr>
          <a:xfrm>
            <a:off x="6986016" y="1600200"/>
            <a:ext cx="7315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 txBox="1"/>
          <p:nvPr/>
        </p:nvSpPr>
        <p:spPr>
          <a:xfrm>
            <a:off x="6016752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Static &amp; dynamic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016752" y="24688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Peak after each crossing; mean over the stroke</a:t>
            </a:r>
            <a:endParaRPr lang="en-US" sz="1100" dirty="0"/>
          </a:p>
        </p:txBody>
      </p:sp>
      <p:sp>
        <p:nvSpPr>
          <p:cNvPr id="28" name="Step dot 6"/>
          <p:cNvSpPr/>
          <p:nvPr/>
        </p:nvSpPr>
        <p:spPr>
          <a:xfrm>
            <a:off x="777240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9" name="Text 27"/>
          <p:cNvSpPr txBox="1"/>
          <p:nvPr/>
        </p:nvSpPr>
        <p:spPr>
          <a:xfrm>
            <a:off x="77724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Per-step stats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06640" y="24688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Table, chart, save to History database</a:t>
            </a:r>
            <a:endParaRPr lang="en-US" sz="1100" dirty="0"/>
          </a:p>
        </p:txBody>
      </p:sp>
      <p:sp>
        <p:nvSpPr>
          <p:cNvPr id="32" name="Validation note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3" name="Text 31"/>
          <p:cNvSpPr txBox="1"/>
          <p:nvPr/>
        </p:nvSpPr>
        <p:spPr>
          <a:xfrm>
            <a:off x="685800" y="3840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Matches the VBA reference workbook. </a:t>
            </a:r>
            <a:r>
              <a:rPr lang="en-US" sz="1400" dirty="0">
                <a:solidFill>
                  <a:schemeClr val="tx1"/>
                </a:solidFill>
              </a:rPr>
              <a:t>Every formula and rounding step is documented on the in-app Help page (The CoF Ledger).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A9C803-6B15-3CB1-470A-B14FFDC214D2}"/>
              </a:ext>
            </a:extLst>
          </p:cNvPr>
          <p:cNvSpPr txBox="1"/>
          <p:nvPr/>
        </p:nvSpPr>
        <p:spPr>
          <a:xfrm>
            <a:off x="815341" y="2442210"/>
            <a:ext cx="79171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The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upper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part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slides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back and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forth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under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the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load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; the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lower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part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stays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fixed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Friction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drags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the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lower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part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along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lang="de-AT" sz="1800" b="0" i="1" dirty="0">
                <a:solidFill>
                  <a:schemeClr val="tx1"/>
                </a:solidFill>
                <a:effectLst/>
                <a:latin typeface="+mn-lt"/>
              </a:rPr>
              <a:t>F</a:t>
            </a:r>
            <a:r>
              <a:rPr lang="de-AT" b="0" i="0" baseline="-25000" dirty="0">
                <a:solidFill>
                  <a:schemeClr val="tx1"/>
                </a:solidFill>
                <a:effectLst/>
                <a:latin typeface="+mn-lt"/>
              </a:rPr>
              <a:t>f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), and the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left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and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right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sensors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hold it still —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together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they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measure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1" dirty="0">
                <a:solidFill>
                  <a:schemeClr val="tx1"/>
                </a:solidFill>
                <a:effectLst/>
                <a:latin typeface="+mn-lt"/>
              </a:rPr>
              <a:t>F</a:t>
            </a:r>
            <a:r>
              <a:rPr lang="de-AT" b="0" i="0" baseline="-25000" dirty="0">
                <a:solidFill>
                  <a:schemeClr val="tx1"/>
                </a:solidFill>
                <a:effectLst/>
                <a:latin typeface="+mn-lt"/>
              </a:rPr>
              <a:t>f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de-AT" sz="1800" b="0" i="1" dirty="0" err="1">
                <a:solidFill>
                  <a:schemeClr val="tx1"/>
                </a:solidFill>
                <a:effectLst/>
                <a:latin typeface="+mn-lt"/>
              </a:rPr>
              <a:t>F</a:t>
            </a:r>
            <a:r>
              <a:rPr lang="de-AT" b="0" i="0" baseline="-25000" dirty="0" err="1">
                <a:solidFill>
                  <a:schemeClr val="tx1"/>
                </a:solidFill>
                <a:effectLst/>
                <a:latin typeface="+mn-lt"/>
              </a:rPr>
              <a:t>f,L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+ </a:t>
            </a:r>
            <a:r>
              <a:rPr lang="de-AT" sz="1800" b="0" i="1" dirty="0" err="1">
                <a:solidFill>
                  <a:schemeClr val="tx1"/>
                </a:solidFill>
                <a:effectLst/>
                <a:latin typeface="+mn-lt"/>
              </a:rPr>
              <a:t>F</a:t>
            </a:r>
            <a:r>
              <a:rPr lang="de-AT" b="0" i="0" baseline="-25000" dirty="0" err="1">
                <a:solidFill>
                  <a:schemeClr val="tx1"/>
                </a:solidFill>
                <a:effectLst/>
                <a:latin typeface="+mn-lt"/>
              </a:rPr>
              <a:t>f,R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Dividing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by the normal force </a:t>
            </a:r>
            <a:r>
              <a:rPr lang="de-AT" sz="1800" b="0" i="1" dirty="0">
                <a:solidFill>
                  <a:schemeClr val="tx1"/>
                </a:solidFill>
                <a:effectLst/>
                <a:latin typeface="+mn-lt"/>
              </a:rPr>
              <a:t>F</a:t>
            </a:r>
            <a:r>
              <a:rPr lang="de-AT" b="0" i="0" baseline="-25000" dirty="0">
                <a:solidFill>
                  <a:schemeClr val="tx1"/>
                </a:solidFill>
                <a:effectLst/>
                <a:latin typeface="+mn-lt"/>
              </a:rPr>
              <a:t>N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gives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μ.</a:t>
            </a:r>
            <a:endParaRPr lang="de-A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820104-7D89-2629-2BAC-63D65FE43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58" y="292652"/>
            <a:ext cx="5047682" cy="214955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2766D1-3F39-76B8-8DC8-877359F59F51}"/>
                  </a:ext>
                </a:extLst>
              </p:cNvPr>
              <p:cNvSpPr txBox="1"/>
              <p:nvPr/>
            </p:nvSpPr>
            <p:spPr>
              <a:xfrm>
                <a:off x="3619499" y="4085250"/>
                <a:ext cx="1905000" cy="5094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de-AT" i="0" dirty="0"/>
                        <m:t>μ</m:t>
                      </m:r>
                      <m:r>
                        <m:rPr>
                          <m:nor/>
                        </m:rPr>
                        <a:rPr lang="de-AT" b="0" i="0" baseline="-25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m:t>i</m:t>
                      </m:r>
                      <m:r>
                        <m:rPr>
                          <m:nor/>
                        </m:rPr>
                        <a:rPr lang="en-US" b="0" i="0" baseline="-25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m:t> </m:t>
                      </m:r>
                      <m:r>
                        <m:rPr>
                          <m:nor/>
                        </m:rPr>
                        <a:rPr lang="de-AT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AT" b="0" i="1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e-AT" b="0" i="1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de-AT" b="0" i="0" baseline="-250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m:t>f,Li</m:t>
                          </m:r>
                          <m:r>
                            <m:rPr>
                              <m:nor/>
                            </m:rPr>
                            <a:rPr lang="de-AT" b="0" i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m:t> + </m:t>
                          </m:r>
                          <m:r>
                            <m:rPr>
                              <m:nor/>
                            </m:rPr>
                            <a:rPr lang="de-AT" b="0" i="1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de-AT" b="0" i="0" baseline="-250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m:t>f,Ri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e-AT" b="0" i="1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de-AT" b="0" i="0" baseline="-250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m:t>Ni</m:t>
                          </m:r>
                        </m:den>
                      </m:f>
                    </m:oMath>
                  </m:oMathPara>
                </a14:m>
                <a:endParaRPr lang="de-AT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2766D1-3F39-76B8-8DC8-877359F59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499" y="4085250"/>
                <a:ext cx="1905000" cy="509435"/>
              </a:xfrm>
              <a:prstGeom prst="rect">
                <a:avLst/>
              </a:prstGeom>
              <a:blipFill>
                <a:blip r:embed="rId3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065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3C1105-EF5B-B966-18F3-AFCDBD1D4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1" y="244732"/>
            <a:ext cx="7802880" cy="19628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DF7689-CEC2-6E0E-0835-2123F7D4ED2C}"/>
              </a:ext>
            </a:extLst>
          </p:cNvPr>
          <p:cNvSpPr txBox="1"/>
          <p:nvPr/>
        </p:nvSpPr>
        <p:spPr>
          <a:xfrm>
            <a:off x="490048" y="3565802"/>
            <a:ext cx="78028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AT" dirty="0"/>
              <a:t>A </a:t>
            </a:r>
            <a:r>
              <a:rPr lang="de-AT" dirty="0" err="1"/>
              <a:t>test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a </a:t>
            </a:r>
            <a:r>
              <a:rPr lang="de-AT" dirty="0" err="1"/>
              <a:t>sequence</a:t>
            </a:r>
            <a:r>
              <a:rPr lang="de-AT" dirty="0"/>
              <a:t> of </a:t>
            </a:r>
            <a:r>
              <a:rPr lang="de-AT" dirty="0" err="1"/>
              <a:t>steps</a:t>
            </a:r>
            <a:r>
              <a:rPr lang="de-AT" dirty="0"/>
              <a:t>; </a:t>
            </a:r>
            <a:r>
              <a:rPr lang="de-AT" dirty="0" err="1"/>
              <a:t>within</a:t>
            </a:r>
            <a:r>
              <a:rPr lang="de-AT" dirty="0"/>
              <a:t> </a:t>
            </a:r>
            <a:r>
              <a:rPr lang="de-AT" dirty="0" err="1"/>
              <a:t>each</a:t>
            </a:r>
            <a:r>
              <a:rPr lang="de-AT" dirty="0"/>
              <a:t> step the </a:t>
            </a:r>
            <a:r>
              <a:rPr lang="de-AT" dirty="0" err="1"/>
              <a:t>CoF</a:t>
            </a:r>
            <a:r>
              <a:rPr lang="de-AT" dirty="0"/>
              <a:t> </a:t>
            </a:r>
            <a:r>
              <a:rPr lang="de-AT" dirty="0" err="1"/>
              <a:t>swings</a:t>
            </a:r>
            <a:r>
              <a:rPr lang="de-AT" dirty="0"/>
              <a:t> back and </a:t>
            </a:r>
            <a:r>
              <a:rPr lang="de-AT" dirty="0" err="1"/>
              <a:t>forth</a:t>
            </a:r>
            <a:r>
              <a:rPr lang="de-AT" dirty="0"/>
              <a:t> </a:t>
            </a:r>
            <a:r>
              <a:rPr lang="de-AT" dirty="0" err="1"/>
              <a:t>once</a:t>
            </a:r>
            <a:r>
              <a:rPr lang="de-AT" dirty="0"/>
              <a:t> per </a:t>
            </a:r>
            <a:r>
              <a:rPr lang="de-AT" dirty="0" err="1"/>
              <a:t>stroke</a:t>
            </a:r>
            <a:r>
              <a:rPr lang="de-AT" dirty="0"/>
              <a:t>.</a:t>
            </a:r>
          </a:p>
          <a:p>
            <a:pPr>
              <a:buNone/>
            </a:pPr>
            <a:br>
              <a:rPr lang="de-AT" dirty="0"/>
            </a:b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59358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907CBA-AD95-DE3F-C25A-052A5DA5B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932233"/>
            <a:ext cx="7768867" cy="18719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8CA7D2-0AFE-9436-CEEF-8455781F36E3}"/>
              </a:ext>
            </a:extLst>
          </p:cNvPr>
          <p:cNvSpPr txBox="1"/>
          <p:nvPr/>
        </p:nvSpPr>
        <p:spPr>
          <a:xfrm>
            <a:off x="941183" y="3194741"/>
            <a:ext cx="66743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Left: Offset </a:t>
            </a:r>
            <a:r>
              <a:rPr lang="de-AT" dirty="0" err="1"/>
              <a:t>subtracts</a:t>
            </a:r>
            <a:r>
              <a:rPr lang="de-AT" dirty="0"/>
              <a:t> </a:t>
            </a:r>
            <a:r>
              <a:rPr lang="de-AT" dirty="0" err="1"/>
              <a:t>mean</a:t>
            </a:r>
            <a:r>
              <a:rPr lang="de-AT" dirty="0"/>
              <a:t>(μ) so the </a:t>
            </a:r>
            <a:r>
              <a:rPr lang="de-AT" dirty="0" err="1"/>
              <a:t>noisy</a:t>
            </a:r>
            <a:r>
              <a:rPr lang="de-AT" dirty="0"/>
              <a:t> </a:t>
            </a:r>
            <a:r>
              <a:rPr lang="de-AT" dirty="0" err="1"/>
              <a:t>signal</a:t>
            </a:r>
            <a:r>
              <a:rPr lang="de-AT" dirty="0"/>
              <a:t> </a:t>
            </a:r>
            <a:r>
              <a:rPr lang="de-AT" dirty="0" err="1"/>
              <a:t>centres</a:t>
            </a:r>
            <a:r>
              <a:rPr lang="de-AT" dirty="0"/>
              <a:t> on </a:t>
            </a:r>
            <a:r>
              <a:rPr lang="de-AT" dirty="0" err="1"/>
              <a:t>zero</a:t>
            </a:r>
            <a:r>
              <a:rPr lang="de-AT" dirty="0"/>
              <a:t> — the </a:t>
            </a:r>
            <a:r>
              <a:rPr lang="de-AT" dirty="0" err="1"/>
              <a:t>noise</a:t>
            </a:r>
            <a:r>
              <a:rPr lang="de-AT" dirty="0"/>
              <a:t> </a:t>
            </a:r>
            <a:r>
              <a:rPr lang="de-AT" dirty="0" err="1"/>
              <a:t>stays</a:t>
            </a:r>
            <a:r>
              <a:rPr lang="de-AT" dirty="0"/>
              <a:t>. </a:t>
            </a:r>
          </a:p>
          <a:p>
            <a:endParaRPr lang="de-AT" dirty="0"/>
          </a:p>
          <a:p>
            <a:r>
              <a:rPr lang="de-AT" dirty="0"/>
              <a:t>Right: Filter </a:t>
            </a:r>
            <a:r>
              <a:rPr lang="de-AT" dirty="0" err="1"/>
              <a:t>removes</a:t>
            </a:r>
            <a:r>
              <a:rPr lang="de-AT" dirty="0"/>
              <a:t> the </a:t>
            </a:r>
            <a:r>
              <a:rPr lang="de-AT" dirty="0" err="1"/>
              <a:t>noise</a:t>
            </a:r>
            <a:r>
              <a:rPr lang="de-AT" dirty="0"/>
              <a:t>, </a:t>
            </a:r>
            <a:r>
              <a:rPr lang="de-AT" dirty="0" err="1"/>
              <a:t>turning</a:t>
            </a:r>
            <a:r>
              <a:rPr lang="de-AT" dirty="0"/>
              <a:t> μ </a:t>
            </a:r>
            <a:r>
              <a:rPr lang="de-AT" dirty="0" err="1"/>
              <a:t>into</a:t>
            </a:r>
            <a:r>
              <a:rPr lang="de-AT" dirty="0"/>
              <a:t> μ′, </a:t>
            </a:r>
            <a:r>
              <a:rPr lang="de-AT" dirty="0" err="1"/>
              <a:t>used</a:t>
            </a:r>
            <a:r>
              <a:rPr lang="de-AT" dirty="0"/>
              <a:t> </a:t>
            </a:r>
            <a:r>
              <a:rPr lang="de-AT" dirty="0" err="1"/>
              <a:t>only</a:t>
            </a:r>
            <a:r>
              <a:rPr lang="de-AT" dirty="0"/>
              <a:t> for </a:t>
            </a:r>
            <a:r>
              <a:rPr lang="de-AT" dirty="0" err="1"/>
              <a:t>finding</a:t>
            </a:r>
            <a:r>
              <a:rPr lang="de-AT" dirty="0"/>
              <a:t> </a:t>
            </a:r>
            <a:r>
              <a:rPr lang="de-AT" dirty="0" err="1"/>
              <a:t>crossings</a:t>
            </a:r>
            <a:r>
              <a:rPr lang="de-AT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3EB61-A717-0ACD-7198-A66B9221B229}"/>
              </a:ext>
            </a:extLst>
          </p:cNvPr>
          <p:cNvSpPr txBox="1"/>
          <p:nvPr/>
        </p:nvSpPr>
        <p:spPr>
          <a:xfrm>
            <a:off x="1009840" y="488331"/>
            <a:ext cx="1954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b="1" dirty="0"/>
              <a:t>Offset &amp; </a:t>
            </a:r>
            <a:r>
              <a:rPr lang="de-AT" b="1" dirty="0" err="1"/>
              <a:t>filter</a:t>
            </a:r>
            <a:endParaRPr lang="de-AT" b="1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354081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A30D345-630C-06CA-36C0-34B411482F7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6438900" cy="66357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AT" b="1" dirty="0"/>
              <a:t>Zero </a:t>
            </a:r>
            <a:r>
              <a:rPr lang="de-AT" b="1" dirty="0" err="1"/>
              <a:t>crossings</a:t>
            </a:r>
            <a:br>
              <a:rPr lang="de-AT" b="1" dirty="0"/>
            </a:br>
            <a:endParaRPr lang="de-A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3A994F-C94D-7757-2262-879E0458B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37" y="1524952"/>
            <a:ext cx="6725603" cy="19534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A6B503-BC0B-4C40-902F-817D4CC9A712}"/>
              </a:ext>
            </a:extLst>
          </p:cNvPr>
          <p:cNvSpPr txBox="1"/>
          <p:nvPr/>
        </p:nvSpPr>
        <p:spPr>
          <a:xfrm>
            <a:off x="950087" y="3693841"/>
            <a:ext cx="7599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Why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crossings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come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first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: the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peaks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can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only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be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found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once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the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signal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is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cut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into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strokes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Each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zero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crossing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lang="de-AT" sz="1800" b="0" i="1" dirty="0">
                <a:solidFill>
                  <a:schemeClr val="tx1"/>
                </a:solidFill>
                <a:effectLst/>
                <a:latin typeface="+mn-lt"/>
              </a:rPr>
              <a:t>j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)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marks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where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a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stroke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starts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, and the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peak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μ*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is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searched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for in a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short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window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shaded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)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right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after it.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114994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11886F-937E-E042-8EAB-A47408A81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691" y="493537"/>
            <a:ext cx="5877350" cy="21812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098AC2-BD07-7A7E-9098-8FC42E68EC4D}"/>
              </a:ext>
            </a:extLst>
          </p:cNvPr>
          <p:cNvSpPr txBox="1"/>
          <p:nvPr/>
        </p:nvSpPr>
        <p:spPr>
          <a:xfrm>
            <a:off x="1413377" y="3495246"/>
            <a:ext cx="63172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One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cycle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:</a:t>
            </a:r>
          </a:p>
          <a:p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μ*</a:t>
            </a:r>
            <a:r>
              <a:rPr lang="de-AT" b="0" i="0" baseline="-25000" dirty="0">
                <a:solidFill>
                  <a:schemeClr val="tx1"/>
                </a:solidFill>
                <a:effectLst/>
                <a:latin typeface="+mn-lt"/>
              </a:rPr>
              <a:t>k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is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the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peak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inside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the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static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window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shaded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);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μ̄</a:t>
            </a:r>
            <a:r>
              <a:rPr lang="de-AT" b="0" i="0" baseline="-25000" dirty="0" err="1">
                <a:solidFill>
                  <a:schemeClr val="tx1"/>
                </a:solidFill>
                <a:effectLst/>
                <a:latin typeface="+mn-lt"/>
              </a:rPr>
              <a:t>k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is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the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mean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over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the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dynamic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window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lang="de-AT" sz="1800" b="0" i="0" dirty="0" err="1">
                <a:solidFill>
                  <a:schemeClr val="tx1"/>
                </a:solidFill>
                <a:effectLst/>
                <a:latin typeface="+mn-lt"/>
              </a:rPr>
              <a:t>dashed</a:t>
            </a:r>
            <a:r>
              <a:rPr lang="de-AT" sz="1800" b="0" i="0" dirty="0">
                <a:solidFill>
                  <a:schemeClr val="tx1"/>
                </a:solidFill>
                <a:effectLst/>
                <a:latin typeface="+mn-lt"/>
              </a:rPr>
              <a:t> box).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00275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636AC8-BC27-9566-FD42-7628ED2EAFAB}"/>
              </a:ext>
            </a:extLst>
          </p:cNvPr>
          <p:cNvSpPr txBox="1">
            <a:spLocks/>
          </p:cNvSpPr>
          <p:nvPr/>
        </p:nvSpPr>
        <p:spPr>
          <a:xfrm>
            <a:off x="-205740" y="239077"/>
            <a:ext cx="6019800" cy="77025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Analysis Tab</a:t>
            </a:r>
            <a:endParaRPr lang="de-A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8841B0-074B-A3CD-33B4-F8DD2F232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538944"/>
            <a:ext cx="3936851" cy="398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967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3FCD1CA-EEEC-ADF7-5CCE-C8E56AB185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343662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History Tab</a:t>
            </a:r>
            <a:endParaRPr lang="de-A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BDD328-F817-3098-5C18-3B9F420CC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865" y="1198953"/>
            <a:ext cx="5046256" cy="365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859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30773-DB6D-026B-A5A6-7964B80A7EFF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 dirty="0"/>
              <a:t>Next Steps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E530A-52EA-21A9-44BA-AACFC3DF15F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073140" cy="191579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Increasing the number of data in the History (500 ~ 1000)</a:t>
            </a:r>
          </a:p>
          <a:p>
            <a:r>
              <a:rPr lang="de-AT"/>
              <a:t>Adding AI Tab  than predict Friction based on the current datas ( CoF, Pressure, temp, …..)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910356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the tool already does</a:t>
            </a:r>
            <a:endParaRPr lang="en-US" sz="3000" dirty="0"/>
          </a:p>
        </p:txBody>
      </p:sp>
      <p:sp>
        <p:nvSpPr>
          <p:cNvPr id="3" name="Feature card 1"/>
          <p:cNvSpPr/>
          <p:nvPr/>
        </p:nvSpPr>
        <p:spPr>
          <a:xfrm>
            <a:off x="45720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Analysis page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One-row toolbar, raw-data card, interactive CoF chart with static and dynamic markers</a:t>
            </a:r>
            <a:endParaRPr lang="en-US" sz="1200" dirty="0"/>
          </a:p>
        </p:txBody>
      </p:sp>
      <p:sp>
        <p:nvSpPr>
          <p:cNvPr id="6" name="Feature card 2"/>
          <p:cNvSpPr/>
          <p:nvPr/>
        </p:nvSpPr>
        <p:spPr>
          <a:xfrm>
            <a:off x="326898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 txBox="1"/>
          <p:nvPr/>
        </p:nvSpPr>
        <p:spPr>
          <a:xfrm>
            <a:off x="3451860" y="1325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Speed-pulse evaluation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51860" y="1737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Static CoF taken as the first peak after the speed pulse, with per-step offsets</a:t>
            </a:r>
            <a:endParaRPr lang="en-US" sz="1200" dirty="0"/>
          </a:p>
        </p:txBody>
      </p:sp>
      <p:sp>
        <p:nvSpPr>
          <p:cNvPr id="9" name="Feature card 3"/>
          <p:cNvSpPr/>
          <p:nvPr/>
        </p:nvSpPr>
        <p:spPr>
          <a:xfrm>
            <a:off x="608076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 txBox="1"/>
          <p:nvPr/>
        </p:nvSpPr>
        <p:spPr>
          <a:xfrm>
            <a:off x="6263640" y="1325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Adaptive stroke detection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737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Pause threshold follows each step's own speed, so slow steps are no longer cut off</a:t>
            </a:r>
            <a:endParaRPr lang="en-US" sz="1200" dirty="0"/>
          </a:p>
        </p:txBody>
      </p:sp>
      <p:sp>
        <p:nvSpPr>
          <p:cNvPr id="12" name="Feature card 4"/>
          <p:cNvSpPr/>
          <p:nvPr/>
        </p:nvSpPr>
        <p:spPr>
          <a:xfrm>
            <a:off x="45720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 txBox="1"/>
          <p:nvPr/>
        </p:nvSpPr>
        <p:spPr>
          <a:xfrm>
            <a:off x="64008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History database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74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Save, reload, overwrite and compare tests in SQLite, with their parameters</a:t>
            </a:r>
            <a:endParaRPr lang="en-US" sz="1200" dirty="0"/>
          </a:p>
        </p:txBody>
      </p:sp>
      <p:sp>
        <p:nvSpPr>
          <p:cNvPr id="15" name="Feature card 5"/>
          <p:cNvSpPr/>
          <p:nvPr/>
        </p:nvSpPr>
        <p:spPr>
          <a:xfrm>
            <a:off x="326898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 txBox="1"/>
          <p:nvPr/>
        </p:nvSpPr>
        <p:spPr>
          <a:xfrm>
            <a:off x="345186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Help page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451860" y="3474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Formula-by-formula reference so results can be checked by hand</a:t>
            </a:r>
            <a:endParaRPr lang="en-US" sz="1200" dirty="0"/>
          </a:p>
        </p:txBody>
      </p:sp>
      <p:sp>
        <p:nvSpPr>
          <p:cNvPr id="18" name="Feature card 6"/>
          <p:cNvSpPr/>
          <p:nvPr/>
        </p:nvSpPr>
        <p:spPr>
          <a:xfrm>
            <a:off x="608076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 txBox="1"/>
          <p:nvPr/>
        </p:nvSpPr>
        <p:spPr>
          <a:xfrm>
            <a:off x="626364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Label collection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474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Mark each static point as right or wrong and store it with the test (new)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Collecting ground truth for the static peak</a:t>
            </a:r>
            <a:endParaRPr lang="en-US" sz="3000" dirty="0"/>
          </a:p>
        </p:txBody>
      </p:sp>
      <p:sp>
        <p:nvSpPr>
          <p:cNvPr id="3" name="How dot 1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1887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Click </a:t>
            </a:r>
            <a:r>
              <a:rPr lang="en-US" sz="1500" dirty="0">
                <a:solidFill>
                  <a:schemeClr val="tx1"/>
                </a:solidFill>
              </a:rPr>
              <a:t>a static marker to mark it correct or wrong</a:t>
            </a:r>
            <a:endParaRPr lang="en-US" sz="1500" dirty="0"/>
          </a:p>
        </p:txBody>
      </p:sp>
      <p:sp>
        <p:nvSpPr>
          <p:cNvPr id="6" name="How dot 2"/>
          <p:cNvSpPr/>
          <p:nvPr/>
        </p:nvSpPr>
        <p:spPr>
          <a:xfrm>
            <a:off x="457200" y="2011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 txBox="1"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9659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Shift+click </a:t>
            </a:r>
            <a:r>
              <a:rPr lang="en-US" sz="1500" dirty="0">
                <a:solidFill>
                  <a:schemeClr val="tx1"/>
                </a:solidFill>
              </a:rPr>
              <a:t>the curve where the peak should have been</a:t>
            </a:r>
            <a:endParaRPr lang="en-US" sz="1500" dirty="0"/>
          </a:p>
        </p:txBody>
      </p:sp>
      <p:sp>
        <p:nvSpPr>
          <p:cNvPr id="9" name="How dot 3"/>
          <p:cNvSpPr/>
          <p:nvPr/>
        </p:nvSpPr>
        <p:spPr>
          <a:xfrm>
            <a:off x="457200" y="2788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 txBox="1"/>
          <p:nvPr/>
        </p:nvSpPr>
        <p:spPr>
          <a:xfrm>
            <a:off x="4572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7432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Save labels </a:t>
            </a:r>
            <a:r>
              <a:rPr lang="en-US" sz="1500" dirty="0">
                <a:solidFill>
                  <a:schemeClr val="tx1"/>
                </a:solidFill>
              </a:rPr>
              <a:t>stores them on each cycle of the saved test</a:t>
            </a:r>
            <a:endParaRPr lang="en-US" sz="1500" dirty="0"/>
          </a:p>
        </p:txBody>
      </p:sp>
      <p:sp>
        <p:nvSpPr>
          <p:cNvPr id="12" name="How dot 4"/>
          <p:cNvSpPr/>
          <p:nvPr/>
        </p:nvSpPr>
        <p:spPr>
          <a:xfrm>
            <a:off x="457200" y="3566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 txBox="1"/>
          <p:nvPr/>
        </p:nvSpPr>
        <p:spPr>
          <a:xfrm>
            <a:off x="45720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5204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Export </a:t>
            </a:r>
            <a:r>
              <a:rPr lang="en-US" sz="1500" dirty="0">
                <a:solidFill>
                  <a:schemeClr val="tx1"/>
                </a:solidFill>
              </a:rPr>
              <a:t>every labelled cycle to Excel from History</a:t>
            </a:r>
            <a:endParaRPr lang="en-US" sz="1500" dirty="0"/>
          </a:p>
        </p:txBody>
      </p:sp>
      <p:sp>
        <p:nvSpPr>
          <p:cNvPr id="15" name="Status panel"/>
          <p:cNvSpPr/>
          <p:nvPr/>
        </p:nvSpPr>
        <p:spPr>
          <a:xfrm>
            <a:off x="5303520" y="1188720"/>
            <a:ext cx="3383280" cy="32004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 txBox="1"/>
          <p:nvPr/>
        </p:nvSpPr>
        <p:spPr>
          <a:xfrm>
            <a:off x="557784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Status today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1737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1,631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cycles in saved tests, none labelled yet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29260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raw files ready to label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Next: the tool suggests the peak</a:t>
            </a:r>
            <a:endParaRPr lang="en-US" sz="3800" dirty="0"/>
          </a:p>
        </p:txBody>
      </p:sp>
      <p:sp>
        <p:nvSpPr>
          <p:cNvPr id="3" name="Next card 1"/>
          <p:cNvSpPr/>
          <p:nvPr/>
        </p:nvSpPr>
        <p:spPr>
          <a:xfrm>
            <a:off x="548640" y="1600200"/>
            <a:ext cx="1874520" cy="2651760"/>
          </a:xfrm>
          <a:prstGeom prst="roundRect">
            <a:avLst>
              <a:gd name="adj" fmla="val 4878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Label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Label cycles across collection, Riga and Schindler files. Aim for 1,000+ cycles over several materials and speeds.</a:t>
            </a:r>
            <a:endParaRPr lang="en-US" sz="1200" dirty="0"/>
          </a:p>
        </p:txBody>
      </p:sp>
      <p:sp>
        <p:nvSpPr>
          <p:cNvPr id="7" name="Next card 2"/>
          <p:cNvSpPr/>
          <p:nvPr/>
        </p:nvSpPr>
        <p:spPr>
          <a:xfrm>
            <a:off x="2606040" y="1600200"/>
            <a:ext cx="1874520" cy="2651760"/>
          </a:xfrm>
          <a:prstGeom prst="roundRect">
            <a:avLst>
              <a:gd name="adj" fmla="val 4878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 txBox="1"/>
          <p:nvPr/>
        </p:nvSpPr>
        <p:spPr>
          <a:xfrm>
            <a:off x="27889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Measure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74320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Score the current rules against the labels: how often is the fixed-window or pulse peak right?</a:t>
            </a:r>
            <a:endParaRPr lang="en-US" sz="1200" dirty="0"/>
          </a:p>
        </p:txBody>
      </p:sp>
      <p:sp>
        <p:nvSpPr>
          <p:cNvPr id="11" name="Next card 3"/>
          <p:cNvSpPr/>
          <p:nvPr/>
        </p:nvSpPr>
        <p:spPr>
          <a:xfrm>
            <a:off x="4663440" y="1600200"/>
            <a:ext cx="1874520" cy="2651760"/>
          </a:xfrm>
          <a:prstGeom prst="roundRect">
            <a:avLst>
              <a:gd name="adj" fmla="val 4878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 txBox="1"/>
          <p:nvPr/>
        </p:nvSpPr>
        <p:spPr>
          <a:xfrm>
            <a:off x="48463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Train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74320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Model that predicts the peak position from the signal around each crossing. Start simple and beat the rule.</a:t>
            </a:r>
            <a:endParaRPr lang="en-US" sz="1200" dirty="0"/>
          </a:p>
        </p:txBody>
      </p:sp>
      <p:sp>
        <p:nvSpPr>
          <p:cNvPr id="15" name="Next card 4"/>
          <p:cNvSpPr/>
          <p:nvPr/>
        </p:nvSpPr>
        <p:spPr>
          <a:xfrm>
            <a:off x="6721813" y="1600200"/>
            <a:ext cx="1874520" cy="2651760"/>
          </a:xfrm>
          <a:prstGeom prst="roundRect">
            <a:avLst>
              <a:gd name="adj" fmla="val 4878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 txBox="1"/>
          <p:nvPr/>
        </p:nvSpPr>
        <p:spPr>
          <a:xfrm>
            <a:off x="69037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Integrate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74320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Show the suggestion and its confidence on the chart. The user confirms, and new labels retrain it.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Immediate action: start labelling now. Step 2 already shows whether the current rule is good enough.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al Tool">
  <a:themeElements>
    <a:clrScheme name="Eval Tool">
      <a:dk1>
        <a:srgbClr val="1B2333"/>
      </a:dk1>
      <a:lt1>
        <a:srgbClr val="FFFFFF"/>
      </a:lt1>
      <a:dk2>
        <a:srgbClr val="1F2A40"/>
      </a:dk2>
      <a:lt2>
        <a:srgbClr val="EEF1F4"/>
      </a:lt2>
      <a:accent1>
        <a:srgbClr val="2BA58A"/>
      </a:accent1>
      <a:accent2>
        <a:srgbClr val="B5651D"/>
      </a:accent2>
      <a:accent3>
        <a:srgbClr val="4CCEAC"/>
      </a:accent3>
      <a:accent4>
        <a:srgbClr val="5A6B7E"/>
      </a:accent4>
      <a:accent5>
        <a:srgbClr val="D7E0E3"/>
      </a:accent5>
      <a:accent6>
        <a:srgbClr val="8A4A14"/>
      </a:accent6>
      <a:hlink>
        <a:srgbClr val="2BA58A"/>
      </a:hlink>
      <a:folHlink>
        <a:srgbClr val="8A4A14"/>
      </a:folHlink>
    </a:clrScheme>
    <a:fontScheme name="Eval Too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866</Words>
  <Application>Microsoft Office PowerPoint</Application>
  <PresentationFormat>On-screen Show (16:9)</PresentationFormat>
  <Paragraphs>100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Cambria Math</vt:lpstr>
      <vt:lpstr>Eval Tool</vt:lpstr>
      <vt:lpstr>ICELAB Eval Tool</vt:lpstr>
      <vt:lpstr>From raw tribometer file to CoF in one pass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Steps</vt:lpstr>
      <vt:lpstr>What the tool already does</vt:lpstr>
      <vt:lpstr>Collecting ground truth for the static peak</vt:lpstr>
      <vt:lpstr>Next: the tool suggests the peak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ICELAB Eval Tool - status and next steps</dc:title>
  <dc:subject>PptxGenJS Presentation</dc:subject>
  <dc:creator>Rashid</dc:creator>
  <cp:lastModifiedBy>Rashid Kazemi</cp:lastModifiedBy>
  <cp:revision>2</cp:revision>
  <dcterms:created xsi:type="dcterms:W3CDTF">2026-10-06T07:23:01Z</dcterms:created>
  <dcterms:modified xsi:type="dcterms:W3CDTF">2026-10-06T08:21:00Z</dcterms:modified>
</cp:coreProperties>
</file>