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tool" id="{3304E149-52B7-36D2-F252-F8023ED0386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The app" id="{29E03B4D-C191-F35D-0310-4D72A243C984}">
          <p14:sldIdLst>
            <p14:sldId id="263"/>
            <p14:sldId id="264"/>
            <p14:sldId id="265"/>
          </p14:sldIdLst>
        </p14:section>
        <p14:section name="Next steps" id="{0C133457-7F95-B4CC-0F74-D7FB50DC13C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157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 Tool replaces the Excel/VBA workbook (Friction_Evaluation.xlsm) with a web app. 108 files = 75 in data/collection, 21 Riga, 12 Schindler.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five slides walk through these steps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ICELAB Eval Tool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Automated coefficient-of-friction evaluation for SRV tribometer tests: status and next steps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raw tribometer file to CoF in one pass</a:t>
            </a:r>
            <a:endParaRPr lang="en-US" sz="3000" dirty="0"/>
          </a:p>
        </p:txBody>
      </p:sp>
      <p:sp>
        <p:nvSpPr>
          <p:cNvPr id="3" name="Step dot 1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rrow 1"/>
          <p:cNvSpPr/>
          <p:nvPr/>
        </p:nvSpPr>
        <p:spPr>
          <a:xfrm>
            <a:off x="1426464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Raw SRV export: Links, Rechts, Belastung, Zeit, step table</a:t>
            </a:r>
            <a:endParaRPr lang="en-US" sz="1100" dirty="0"/>
          </a:p>
        </p:txBody>
      </p:sp>
      <p:sp>
        <p:nvSpPr>
          <p:cNvPr id="8" name="Step dot 2"/>
          <p:cNvSpPr/>
          <p:nvPr/>
        </p:nvSpPr>
        <p:spPr>
          <a:xfrm>
            <a:off x="2212848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2212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rrow 2"/>
          <p:cNvSpPr/>
          <p:nvPr/>
        </p:nvSpPr>
        <p:spPr>
          <a:xfrm>
            <a:off x="2816352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 txBox="1"/>
          <p:nvPr/>
        </p:nvSpPr>
        <p:spPr>
          <a:xfrm>
            <a:off x="1847088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CoF per sample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μ = (F_L + F_R) / F_N, optional load correction λ</a:t>
            </a:r>
            <a:endParaRPr lang="en-US" sz="1100" dirty="0"/>
          </a:p>
        </p:txBody>
      </p:sp>
      <p:sp>
        <p:nvSpPr>
          <p:cNvPr id="13" name="Step dot 3"/>
          <p:cNvSpPr/>
          <p:nvPr/>
        </p:nvSpPr>
        <p:spPr>
          <a:xfrm>
            <a:off x="3602736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 txBox="1"/>
          <p:nvPr/>
        </p:nvSpPr>
        <p:spPr>
          <a:xfrm>
            <a:off x="36027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Arrow 3"/>
          <p:cNvSpPr/>
          <p:nvPr/>
        </p:nvSpPr>
        <p:spPr>
          <a:xfrm>
            <a:off x="4206240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236976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Offset &amp; filter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36976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Centre on zero; rolling median used only to find crossings</a:t>
            </a:r>
            <a:endParaRPr lang="en-US" sz="1100" dirty="0"/>
          </a:p>
        </p:txBody>
      </p:sp>
      <p:sp>
        <p:nvSpPr>
          <p:cNvPr id="18" name="Step dot 4"/>
          <p:cNvSpPr/>
          <p:nvPr/>
        </p:nvSpPr>
        <p:spPr>
          <a:xfrm>
            <a:off x="4992624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499262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rrow 4"/>
          <p:cNvSpPr/>
          <p:nvPr/>
        </p:nvSpPr>
        <p:spPr>
          <a:xfrm>
            <a:off x="5596128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 txBox="1"/>
          <p:nvPr/>
        </p:nvSpPr>
        <p:spPr>
          <a:xfrm>
            <a:off x="4626864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Zero crossings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Each sign change = stroke reversal; pause gaps dropped</a:t>
            </a:r>
            <a:endParaRPr lang="en-US" sz="1100" dirty="0"/>
          </a:p>
        </p:txBody>
      </p:sp>
      <p:sp>
        <p:nvSpPr>
          <p:cNvPr id="23" name="Step dot 5"/>
          <p:cNvSpPr/>
          <p:nvPr/>
        </p:nvSpPr>
        <p:spPr>
          <a:xfrm>
            <a:off x="6382512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 txBox="1"/>
          <p:nvPr/>
        </p:nvSpPr>
        <p:spPr>
          <a:xfrm>
            <a:off x="63825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Arrow 5"/>
          <p:cNvSpPr/>
          <p:nvPr/>
        </p:nvSpPr>
        <p:spPr>
          <a:xfrm>
            <a:off x="6986016" y="1600200"/>
            <a:ext cx="7315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 txBox="1"/>
          <p:nvPr/>
        </p:nvSpPr>
        <p:spPr>
          <a:xfrm>
            <a:off x="6016752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Static &amp; dynamic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Peak after each crossing; mean over the stroke</a:t>
            </a:r>
            <a:endParaRPr lang="en-US" sz="1100" dirty="0"/>
          </a:p>
        </p:txBody>
      </p:sp>
      <p:sp>
        <p:nvSpPr>
          <p:cNvPr id="28" name="Step dot 6"/>
          <p:cNvSpPr/>
          <p:nvPr/>
        </p:nvSpPr>
        <p:spPr>
          <a:xfrm>
            <a:off x="77724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 txBox="1"/>
          <p:nvPr/>
        </p:nvSpPr>
        <p:spPr>
          <a:xfrm>
            <a:off x="77724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Per-step stats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468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Table, chart, save to History database</a:t>
            </a:r>
            <a:endParaRPr lang="en-US" sz="1100" dirty="0"/>
          </a:p>
        </p:txBody>
      </p:sp>
      <p:sp>
        <p:nvSpPr>
          <p:cNvPr id="32" name="Validation note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Matches the VBA reference workbook. </a:t>
            </a:r>
            <a:r>
              <a:rPr lang="en-US" sz="1500" dirty="0">
                <a:solidFill>
                  <a:schemeClr val="tx1"/>
                </a:solidFill>
              </a:rPr>
              <a:t>Every formula and rounding step is documented on the in-app Help page (The CoF Ledger).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CoF is measured</a:t>
            </a:r>
            <a:endParaRPr lang="en-US" sz="3000" dirty="0"/>
          </a:p>
        </p:txBody>
      </p:sp>
      <p:pic>
        <p:nvPicPr>
          <p:cNvPr id="3" name="Test rig diagram" descr="C:\Users\kaz\AppData\Local\Temp\claude\c--Users-kaz-Desktop-Tribology-ICELAB-Eval-Tool-backend\c3f5cce8-69e9-484c-9d14-43d68999367f\scratchpad\img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120640" cy="2180626"/>
          </a:xfrm>
          <a:prstGeom prst="rect">
            <a:avLst/>
          </a:prstGeom>
        </p:spPr>
      </p:pic>
      <p:sp>
        <p:nvSpPr>
          <p:cNvPr id="4" name="Formula card"/>
          <p:cNvSpPr/>
          <p:nvPr/>
        </p:nvSpPr>
        <p:spPr>
          <a:xfrm>
            <a:off x="5943600" y="1188720"/>
            <a:ext cx="2743200" cy="2180844"/>
          </a:xfrm>
          <a:prstGeom prst="roundRect">
            <a:avLst>
              <a:gd name="adj" fmla="val 419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1722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CoF per sample</a:t>
            </a:r>
            <a:endParaRPr lang="en-US" sz="1300" dirty="0"/>
          </a:p>
        </p:txBody>
      </p:sp>
      <p:sp>
        <p:nvSpPr>
          <p:cNvPr id="6" name="Formula backing"/>
          <p:cNvSpPr/>
          <p:nvPr/>
        </p:nvSpPr>
        <p:spPr>
          <a:xfrm>
            <a:off x="6172200" y="178308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7" name="CoF formula" descr="C:\Users\kaz\AppData\Local\Temp\claude\c--Users-kaz-Desktop-Tribology-ICELAB-Eval-Tool-backend\c3f5cce8-69e9-484c-9d14-43d68999367f\scratchpad\img\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0"/>
            <a:ext cx="2103120" cy="6201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722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Sum of left and right friction forces divided by the normal load</a:t>
            </a:r>
            <a:endParaRPr lang="en-US" sz="1200" dirty="0"/>
          </a:p>
        </p:txBody>
      </p:sp>
      <p:sp>
        <p:nvSpPr>
          <p:cNvPr id="9" name="Rig caption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6"/>
          <p:cNvSpPr txBox="1"/>
          <p:nvPr/>
        </p:nvSpPr>
        <p:spPr>
          <a:xfrm>
            <a:off x="685800" y="3611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upper part slides back and forth under the load; the lower part stays fixed. Friction drags the lower part along (F</a:t>
            </a:r>
            <a:r>
              <a:rPr lang="en-US" sz="1500" baseline="-40000" dirty="0">
                <a:solidFill>
                  <a:schemeClr val="tx1"/>
                </a:solidFill>
              </a:rPr>
              <a:t>f</a:t>
            </a:r>
            <a:r>
              <a:rPr lang="en-US" sz="1500" dirty="0">
                <a:solidFill>
                  <a:schemeClr val="tx1"/>
                </a:solidFill>
              </a:rPr>
              <a:t>), and the left and right sensors hold it still. Together they measure F</a:t>
            </a:r>
            <a:r>
              <a:rPr lang="en-US" sz="1500" baseline="-40000" dirty="0">
                <a:solidFill>
                  <a:schemeClr val="tx1"/>
                </a:solidFill>
              </a:rPr>
              <a:t>f</a:t>
            </a:r>
            <a:r>
              <a:rPr lang="en-US" sz="1500" dirty="0">
                <a:solidFill>
                  <a:schemeClr val="tx1"/>
                </a:solidFill>
              </a:rPr>
              <a:t> = F</a:t>
            </a:r>
            <a:r>
              <a:rPr lang="en-US" sz="1500" baseline="-40000" dirty="0">
                <a:solidFill>
                  <a:schemeClr val="tx1"/>
                </a:solidFill>
              </a:rPr>
              <a:t>f,L</a:t>
            </a:r>
            <a:r>
              <a:rPr lang="en-US" sz="1500" dirty="0">
                <a:solidFill>
                  <a:schemeClr val="tx1"/>
                </a:solidFill>
              </a:rPr>
              <a:t> + F</a:t>
            </a:r>
            <a:r>
              <a:rPr lang="en-US" sz="1500" baseline="-40000" dirty="0">
                <a:solidFill>
                  <a:schemeClr val="tx1"/>
                </a:solidFill>
              </a:rPr>
              <a:t>f,R</a:t>
            </a:r>
            <a:r>
              <a:rPr lang="en-US" sz="1500" dirty="0">
                <a:solidFill>
                  <a:schemeClr val="tx1"/>
                </a:solidFill>
              </a:rPr>
              <a:t>. Dividing by the normal force F</a:t>
            </a:r>
            <a:r>
              <a:rPr lang="en-US" sz="1500" baseline="-40000" dirty="0">
                <a:solidFill>
                  <a:schemeClr val="tx1"/>
                </a:solidFill>
              </a:rPr>
              <a:t>N</a:t>
            </a:r>
            <a:r>
              <a:rPr lang="en-US" sz="1500" dirty="0">
                <a:solidFill>
                  <a:schemeClr val="tx1"/>
                </a:solidFill>
              </a:rPr>
              <a:t> gives 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 test is a sequence of steps</a:t>
            </a:r>
            <a:endParaRPr lang="en-US" sz="3000" dirty="0"/>
          </a:p>
        </p:txBody>
      </p:sp>
      <p:pic>
        <p:nvPicPr>
          <p:cNvPr id="3" name="Test steps chart" descr="C:\Users\kaz\AppData\Local\Temp\claude\c--Users-kaz-Desktop-Tribology-ICELAB-Eval-Tool-backend\c3f5cce8-69e9-484c-9d14-43d68999367f\scratchpad\img\image3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1755648"/>
          </a:xfrm>
          <a:prstGeom prst="rect">
            <a:avLst/>
          </a:prstGeom>
        </p:spPr>
      </p:pic>
      <p:sp>
        <p:nvSpPr>
          <p:cNvPr id="4" name="Steps caption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Each step runs at its own speed. </a:t>
            </a:r>
            <a:r>
              <a:rPr lang="en-US" sz="1500" dirty="0">
                <a:solidFill>
                  <a:schemeClr val="tx1"/>
                </a:solidFill>
              </a:rPr>
              <a:t>Within a step the CoF swings back and forth once per stroke, so faster steps give more strokes in the same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Offset &amp; filter</a:t>
            </a:r>
            <a:endParaRPr lang="en-US" sz="3000" dirty="0"/>
          </a:p>
        </p:txBody>
      </p:sp>
      <p:pic>
        <p:nvPicPr>
          <p:cNvPr id="3" name="Offset and filter diagram" descr="C:\Users\kaz\AppData\Local\Temp\claude\c--Users-kaz-Desktop-Tribology-ICELAB-Eval-Tool-backend\c3f5cce8-69e9-484c-9d14-43d68999367f\scratchpad\img\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1982942"/>
          </a:xfrm>
          <a:prstGeom prst="rect">
            <a:avLst/>
          </a:prstGeom>
        </p:spPr>
      </p:pic>
      <p:sp>
        <p:nvSpPr>
          <p:cNvPr id="4" name="Offset caption"/>
          <p:cNvSpPr/>
          <p:nvPr/>
        </p:nvSpPr>
        <p:spPr>
          <a:xfrm>
            <a:off x="457200" y="3520440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Offset </a:t>
            </a:r>
            <a:r>
              <a:rPr lang="en-US" sz="1500" dirty="0">
                <a:solidFill>
                  <a:schemeClr val="tx1"/>
                </a:solidFill>
              </a:rPr>
              <a:t>subtracts mean(μ) so the noisy signal centres on zero. The noise stays.</a:t>
            </a:r>
            <a:endParaRPr lang="en-US" sz="1500" dirty="0"/>
          </a:p>
        </p:txBody>
      </p:sp>
      <p:sp>
        <p:nvSpPr>
          <p:cNvPr id="6" name="Filter caption"/>
          <p:cNvSpPr/>
          <p:nvPr/>
        </p:nvSpPr>
        <p:spPr>
          <a:xfrm>
            <a:off x="4709160" y="3520440"/>
            <a:ext cx="3977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 txBox="1"/>
          <p:nvPr/>
        </p:nvSpPr>
        <p:spPr>
          <a:xfrm>
            <a:off x="4937760" y="3520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Filter </a:t>
            </a:r>
            <a:r>
              <a:rPr lang="en-US" sz="1500" dirty="0">
                <a:solidFill>
                  <a:schemeClr val="tx1"/>
                </a:solidFill>
              </a:rPr>
              <a:t>removes the noise, turning μ into μ′. It is used only for finding crossings.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Zero crossings</a:t>
            </a:r>
            <a:endParaRPr lang="en-US" sz="3000" dirty="0"/>
          </a:p>
        </p:txBody>
      </p:sp>
      <p:pic>
        <p:nvPicPr>
          <p:cNvPr id="3" name="Zero crossings diagram" descr="C:\Users\kaz\AppData\Local\Temp\claude\c--Users-kaz-Desktop-Tribology-ICELAB-Eval-Tool-backend\c3f5cce8-69e9-484c-9d14-43d68999367f\scratchpad\img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680960" cy="2230894"/>
          </a:xfrm>
          <a:prstGeom prst="rect">
            <a:avLst/>
          </a:prstGeom>
        </p:spPr>
      </p:pic>
      <p:sp>
        <p:nvSpPr>
          <p:cNvPr id="4" name="Crossings caption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85800" y="35204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Why crossings come first: </a:t>
            </a:r>
            <a:r>
              <a:rPr lang="en-US" sz="1500" dirty="0">
                <a:solidFill>
                  <a:schemeClr val="tx1"/>
                </a:solidFill>
              </a:rPr>
              <a:t>the peaks can only be found once the signal is cut into strokes. Each zero crossing (j) marks where a stroke starts, and the peak μ* is searched for in a short window (shaded) right after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Static and dynamic CoF in one cycle</a:t>
            </a:r>
            <a:endParaRPr lang="en-US" sz="3000" dirty="0"/>
          </a:p>
        </p:txBody>
      </p:sp>
      <p:pic>
        <p:nvPicPr>
          <p:cNvPr id="3" name="One cycle diagram" descr="C:\Users\kaz\AppData\Local\Temp\claude\c--Users-kaz-Desktop-Tribology-ICELAB-Eval-Tool-backend\c3f5cce8-69e9-484c-9d14-43d68999367f\scratchpad\img\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669280" cy="2104000"/>
          </a:xfrm>
          <a:prstGeom prst="rect">
            <a:avLst/>
          </a:prstGeom>
        </p:spPr>
      </p:pic>
      <p:sp>
        <p:nvSpPr>
          <p:cNvPr id="4" name="Definition 1"/>
          <p:cNvSpPr/>
          <p:nvPr/>
        </p:nvSpPr>
        <p:spPr>
          <a:xfrm>
            <a:off x="6309360" y="123444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 txBox="1"/>
          <p:nvPr/>
        </p:nvSpPr>
        <p:spPr>
          <a:xfrm>
            <a:off x="6446520" y="13075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Static CoF  μ*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the peak inside the static window (shaded), just after the stroke starts</a:t>
            </a:r>
            <a:endParaRPr lang="en-US" sz="1400" dirty="0"/>
          </a:p>
        </p:txBody>
      </p:sp>
      <p:sp>
        <p:nvSpPr>
          <p:cNvPr id="6" name="Definition 2"/>
          <p:cNvSpPr/>
          <p:nvPr/>
        </p:nvSpPr>
        <p:spPr>
          <a:xfrm>
            <a:off x="6309360" y="24231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 txBox="1"/>
          <p:nvPr/>
        </p:nvSpPr>
        <p:spPr>
          <a:xfrm>
            <a:off x="6446520" y="24963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Dynamic CoF  μ̄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mean over the dynamic window (dashed box) in the middle of the stroke</a:t>
            </a:r>
            <a:endParaRPr lang="en-US" sz="1400" dirty="0"/>
          </a:p>
        </p:txBody>
      </p:sp>
      <p:sp>
        <p:nvSpPr>
          <p:cNvPr id="8" name="Cycle caption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Window positions are set as percentages of the stroke </a:t>
            </a:r>
            <a:r>
              <a:rPr lang="en-US" sz="1500" b="1" dirty="0">
                <a:solidFill>
                  <a:schemeClr val="tx2"/>
                </a:solidFill>
              </a:rPr>
              <a:t>(Static %, Dyn min %, Dyn max %)</a:t>
            </a:r>
            <a:r>
              <a:rPr lang="en-US" sz="1500" dirty="0">
                <a:solidFill>
                  <a:schemeClr val="tx1"/>
                </a:solidFill>
              </a:rPr>
              <a:t>, so the same settings work at every speed.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tool already does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Analysis page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One-row toolbar, raw-data card, interactive CoF chart with static and dynamic markers</a:t>
            </a:r>
            <a:endParaRPr lang="en-US" sz="1200" dirty="0"/>
          </a:p>
        </p:txBody>
      </p:sp>
      <p:sp>
        <p:nvSpPr>
          <p:cNvPr id="6" name="Feature card 2"/>
          <p:cNvSpPr/>
          <p:nvPr/>
        </p:nvSpPr>
        <p:spPr>
          <a:xfrm>
            <a:off x="326898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345186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Speed-pulse evaluation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Static CoF taken as the first peak after the speed pulse, with per-step offsets</a:t>
            </a:r>
            <a:endParaRPr lang="en-US" sz="1200" dirty="0"/>
          </a:p>
        </p:txBody>
      </p:sp>
      <p:sp>
        <p:nvSpPr>
          <p:cNvPr id="9" name="Feature card 3"/>
          <p:cNvSpPr/>
          <p:nvPr/>
        </p:nvSpPr>
        <p:spPr>
          <a:xfrm>
            <a:off x="608076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626364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Adaptive stroke detection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Pause threshold follows each step's own speed, so slow steps are no longer cut off</a:t>
            </a:r>
            <a:endParaRPr lang="en-US" sz="1200" dirty="0"/>
          </a:p>
        </p:txBody>
      </p:sp>
      <p:sp>
        <p:nvSpPr>
          <p:cNvPr id="12" name="Feature card 4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History database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Save, reload, overwrite and compare tests, with their parameters</a:t>
            </a:r>
            <a:endParaRPr lang="en-US" sz="1200" dirty="0"/>
          </a:p>
        </p:txBody>
      </p:sp>
      <p:sp>
        <p:nvSpPr>
          <p:cNvPr id="15" name="Feature card 5"/>
          <p:cNvSpPr/>
          <p:nvPr/>
        </p:nvSpPr>
        <p:spPr>
          <a:xfrm>
            <a:off x="32689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34518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Help page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5186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Formula-by-formula reference so results can be checked by hand</a:t>
            </a:r>
            <a:endParaRPr lang="en-US" sz="1200" dirty="0"/>
          </a:p>
        </p:txBody>
      </p:sp>
      <p:sp>
        <p:nvSpPr>
          <p:cNvPr id="18" name="Feature card 6"/>
          <p:cNvSpPr/>
          <p:nvPr/>
        </p:nvSpPr>
        <p:spPr>
          <a:xfrm>
            <a:off x="608076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 txBox="1"/>
          <p:nvPr/>
        </p:nvSpPr>
        <p:spPr>
          <a:xfrm>
            <a:off x="626364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Label collection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Mark each static point as right or wrong and store it with the 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Analysis tab</a:t>
            </a:r>
            <a:endParaRPr lang="en-US" sz="3000" dirty="0"/>
          </a:p>
        </p:txBody>
      </p:sp>
      <p:sp>
        <p:nvSpPr>
          <p:cNvPr id="3" name="Callout dot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Upload &amp; calculate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Load a raw .txt file, run the pipeline, save or open in Excel</a:t>
            </a:r>
            <a:endParaRPr lang="en-US" sz="1300" dirty="0"/>
          </a:p>
        </p:txBody>
      </p:sp>
      <p:sp>
        <p:nvSpPr>
          <p:cNvPr id="6" name="Callout dot 2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562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Raw data settings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Rows and columns for time, friction, load and steps</a:t>
            </a:r>
            <a:endParaRPr lang="en-US" sz="1300" dirty="0"/>
          </a:p>
        </p:txBody>
      </p:sp>
      <p:sp>
        <p:nvSpPr>
          <p:cNvPr id="9" name="Callout dot 3"/>
          <p:cNvSpPr/>
          <p:nvPr/>
        </p:nvSpPr>
        <p:spPr>
          <a:xfrm>
            <a:off x="457200" y="2615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5720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694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Offset, filter, evaluate</a:t>
            </a:r>
            <a:endParaRPr lang="en-US" sz="1300" dirty="0"/>
          </a:p>
        </p:txBody>
      </p:sp>
      <p:sp>
        <p:nvSpPr>
          <p:cNvPr id="12" name="Callout dot 4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8269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Pulse offsets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Per-step offsets for the speed-pulse method</a:t>
            </a:r>
            <a:endParaRPr lang="en-US" sz="1300" dirty="0"/>
          </a:p>
        </p:txBody>
      </p:sp>
      <p:sp>
        <p:nvSpPr>
          <p:cNvPr id="15" name="Callout dot 5"/>
          <p:cNvSpPr/>
          <p:nvPr/>
        </p:nvSpPr>
        <p:spPr>
          <a:xfrm>
            <a:off x="45720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 txBox="1"/>
          <p:nvPr/>
        </p:nvSpPr>
        <p:spPr>
          <a:xfrm>
            <a:off x="4572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9959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Interactive chart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CoF with speed pulse; click points to label them</a:t>
            </a:r>
            <a:endParaRPr lang="en-US" sz="1300" dirty="0"/>
          </a:p>
        </p:txBody>
      </p:sp>
      <p:sp>
        <p:nvSpPr>
          <p:cNvPr id="18" name="Screenshot backing"/>
          <p:cNvSpPr/>
          <p:nvPr/>
        </p:nvSpPr>
        <p:spPr>
          <a:xfrm>
            <a:off x="4617720" y="1051560"/>
            <a:ext cx="4069080" cy="3657600"/>
          </a:xfrm>
          <a:prstGeom prst="roundRect">
            <a:avLst>
              <a:gd name="adj" fmla="val 1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9" name="Analysis tab screenshot" descr="C:\Users\kaz\AppData\Local\Temp\claude\c--Users-kaz-Desktop-Tribology-ICELAB-Eval-Tool-backend\c3f5cce8-69e9-484c-9d14-43d68999367f\scratchpad\img\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352718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History tab</a:t>
            </a:r>
            <a:endParaRPr lang="en-US" sz="3000" dirty="0"/>
          </a:p>
        </p:txBody>
      </p:sp>
      <p:sp>
        <p:nvSpPr>
          <p:cNvPr id="3" name="Callout dot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Saved tests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Every evaluated test with its filter, static and dynamic settings</a:t>
            </a:r>
            <a:endParaRPr lang="en-US" sz="1300" dirty="0"/>
          </a:p>
        </p:txBody>
      </p:sp>
      <p:sp>
        <p:nvSpPr>
          <p:cNvPr id="6" name="Callout dot 2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Show chart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Redraw a saved test with all static and dynamic points</a:t>
            </a:r>
            <a:endParaRPr lang="en-US" sz="1300" dirty="0"/>
          </a:p>
        </p:txBody>
      </p:sp>
      <p:sp>
        <p:nvSpPr>
          <p:cNvPr id="9" name="Callout dot 3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Load into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Re-open a test to adjust, re-evaluate and overwrite it</a:t>
            </a:r>
            <a:endParaRPr lang="en-US" sz="1300" dirty="0"/>
          </a:p>
        </p:txBody>
      </p:sp>
      <p:sp>
        <p:nvSpPr>
          <p:cNvPr id="12" name="Callout dot 4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Open labels in Excel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Export every labelled cycle in one sheet</a:t>
            </a:r>
            <a:endParaRPr lang="en-US" sz="1300" dirty="0"/>
          </a:p>
        </p:txBody>
      </p:sp>
      <p:sp>
        <p:nvSpPr>
          <p:cNvPr id="15" name="Screenshot backing"/>
          <p:cNvSpPr/>
          <p:nvPr/>
        </p:nvSpPr>
        <p:spPr>
          <a:xfrm>
            <a:off x="3794760" y="1051560"/>
            <a:ext cx="4892040" cy="3657600"/>
          </a:xfrm>
          <a:prstGeom prst="roundRect">
            <a:avLst>
              <a:gd name="adj" fmla="val 1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6" name="History tab screenshot" descr="C:\Users\kaz\AppData\Local\Temp\claude\c--Users-kaz-Desktop-Tribology-ICELAB-Eval-Tool-backend\c3f5cce8-69e9-484c-9d14-43d68999367f\scratchpad\img\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61288"/>
            <a:ext cx="4738514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Next steps</a:t>
            </a:r>
            <a:endParaRPr lang="en-US" sz="3800" dirty="0"/>
          </a:p>
        </p:txBody>
      </p:sp>
      <p:sp>
        <p:nvSpPr>
          <p:cNvPr id="3" name="Next card 1"/>
          <p:cNvSpPr/>
          <p:nvPr/>
        </p:nvSpPr>
        <p:spPr>
          <a:xfrm>
            <a:off x="548640" y="146304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Grow the History database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Evaluate and save 500 to 1,000 tests,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More saved tests = more data for the AI to learn from.</a:t>
            </a:r>
            <a:endParaRPr lang="en-US" sz="1300" dirty="0"/>
          </a:p>
        </p:txBody>
      </p:sp>
      <p:sp>
        <p:nvSpPr>
          <p:cNvPr id="8" name="Next card 2"/>
          <p:cNvSpPr/>
          <p:nvPr/>
        </p:nvSpPr>
        <p:spPr>
          <a:xfrm>
            <a:off x="4663440" y="146304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 txBox="1"/>
          <p:nvPr/>
        </p:nvSpPr>
        <p:spPr>
          <a:xfrm>
            <a:off x="4937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Add an AI tab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Predict friction from the test data: CoF, pressure, temperature and other conditions.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Trained on the saved History results.</a:t>
            </a:r>
            <a:endParaRPr lang="en-US" sz="1300" dirty="0"/>
          </a:p>
        </p:txBody>
      </p:sp>
      <p:sp>
        <p:nvSpPr>
          <p:cNvPr id="13" name="Step arrow"/>
          <p:cNvSpPr/>
          <p:nvPr/>
        </p:nvSpPr>
        <p:spPr>
          <a:xfrm>
            <a:off x="4434840" y="2971800"/>
            <a:ext cx="2743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al Tool">
  <a:themeElements>
    <a:clrScheme name="Eval Tool">
      <a:dk1>
        <a:srgbClr val="1B2333"/>
      </a:dk1>
      <a:lt1>
        <a:srgbClr val="FFFFFF"/>
      </a:lt1>
      <a:dk2>
        <a:srgbClr val="1F2A40"/>
      </a:dk2>
      <a:lt2>
        <a:srgbClr val="EEF1F4"/>
      </a:lt2>
      <a:accent1>
        <a:srgbClr val="2BA58A"/>
      </a:accent1>
      <a:accent2>
        <a:srgbClr val="B5651D"/>
      </a:accent2>
      <a:accent3>
        <a:srgbClr val="4CCEAC"/>
      </a:accent3>
      <a:accent4>
        <a:srgbClr val="5A6B7E"/>
      </a:accent4>
      <a:accent5>
        <a:srgbClr val="D7E0E3"/>
      </a:accent5>
      <a:accent6>
        <a:srgbClr val="8A4A14"/>
      </a:accent6>
      <a:hlink>
        <a:srgbClr val="2BA58A"/>
      </a:hlink>
      <a:folHlink>
        <a:srgbClr val="8A4A14"/>
      </a:folHlink>
    </a:clrScheme>
    <a:fontScheme name="Eval To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On-screen Show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Eval Tool</vt:lpstr>
      <vt:lpstr>ICELAB Eval Tool</vt:lpstr>
      <vt:lpstr>From raw tribometer file to CoF in one pass</vt:lpstr>
      <vt:lpstr>How the CoF is measured</vt:lpstr>
      <vt:lpstr>A test is a sequence of steps</vt:lpstr>
      <vt:lpstr>Offset &amp; filter</vt:lpstr>
      <vt:lpstr>Zero crossings</vt:lpstr>
      <vt:lpstr>Static and dynamic CoF in one cycle</vt:lpstr>
      <vt:lpstr>What the tool already does</vt:lpstr>
      <vt:lpstr>Analysis tab</vt:lpstr>
      <vt:lpstr>History tab</vt:lpstr>
      <vt:lpstr>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ICELAB Eval Tool - status and next steps</dc:title>
  <dc:subject>PptxGenJS Presentation</dc:subject>
  <dc:creator>Rashid</dc:creator>
  <cp:lastModifiedBy>Rashid Kazemi</cp:lastModifiedBy>
  <cp:revision>4</cp:revision>
  <dcterms:created xsi:type="dcterms:W3CDTF">2026-10-06T08:26:17Z</dcterms:created>
  <dcterms:modified xsi:type="dcterms:W3CDTF">2026-10-06T08:46:53Z</dcterms:modified>
</cp:coreProperties>
</file>