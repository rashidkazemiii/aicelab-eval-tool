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s Tool" id="{3304E149-52B7-36D2-F252-F8023ED0386B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Die App" id="{29E03B4D-C191-F35D-0310-4D72A243C984}">
          <p14:sldIdLst>
            <p14:sldId id="263"/>
            <p14:sldId id="264"/>
            <p14:sldId id="265"/>
          </p14:sldIdLst>
        </p14:section>
        <p14:section name="Nächste Schritte" id="{0C133457-7F95-B4CC-0F74-D7FB50DC13C1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157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Das Eval Tool ersetzt die Excel/VBA-Arbeitsmappe (Friction_Evaluation.xlsm) durch eine Web-App. 108 Dateien = 75 in data/collection, 21 Riga, 12 Schindler.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de-DE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nächsten fünf Folien erklären diese Schritte nacheinander.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de-DE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de-DE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de-DE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de-DE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de-DE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de-DE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de-DE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de-DE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de-DE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de-DE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chemeClr val="bg1"/>
                </a:solidFill>
              </a:rPr>
              <a:t>ICELAB Eval Tool</a:t>
            </a:r>
            <a:endParaRPr lang="de-DE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800" dirty="0">
                <a:solidFill>
                  <a:schemeClr val="accent3"/>
                </a:solidFill>
              </a:rPr>
              <a:t>Automatisierte Auswertung des Reibwerts für SRV-Tribometerversuche: Stand und nächste Schritte</a:t>
            </a:r>
            <a:endParaRPr lang="de-DE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100" dirty="0">
                <a:solidFill>
                  <a:schemeClr val="accent5"/>
                </a:solidFill>
              </a:rPr>
              <a:t>Oktober 2026</a:t>
            </a:r>
            <a:endParaRPr lang="de-DE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000" b="1" dirty="0">
                <a:solidFill>
                  <a:schemeClr val="tx2"/>
                </a:solidFill>
              </a:rPr>
              <a:t>Von der Rohdatei zum Reibwert</a:t>
            </a:r>
            <a:endParaRPr lang="de-DE" sz="3000" dirty="0"/>
          </a:p>
        </p:txBody>
      </p:sp>
      <p:sp>
        <p:nvSpPr>
          <p:cNvPr id="3" name="Step dot 1"/>
          <p:cNvSpPr/>
          <p:nvPr/>
        </p:nvSpPr>
        <p:spPr>
          <a:xfrm>
            <a:off x="82296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 txBox="1"/>
          <p:nvPr/>
        </p:nvSpPr>
        <p:spPr>
          <a:xfrm>
            <a:off x="8229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800" b="1" dirty="0">
                <a:solidFill>
                  <a:schemeClr val="bg1"/>
                </a:solidFill>
              </a:rPr>
              <a:t>1</a:t>
            </a:r>
            <a:endParaRPr lang="de-DE" sz="1800" dirty="0"/>
          </a:p>
        </p:txBody>
      </p:sp>
      <p:sp>
        <p:nvSpPr>
          <p:cNvPr id="5" name="Arrow 1"/>
          <p:cNvSpPr/>
          <p:nvPr/>
        </p:nvSpPr>
        <p:spPr>
          <a:xfrm>
            <a:off x="1426464" y="1600200"/>
            <a:ext cx="7315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sz="1400" b="1" dirty="0">
                <a:solidFill>
                  <a:schemeClr val="tx2"/>
                </a:solidFill>
              </a:rPr>
              <a:t>Laden</a:t>
            </a:r>
            <a:endParaRPr lang="de-DE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sz="1100" dirty="0">
                <a:solidFill>
                  <a:schemeClr val="accent4"/>
                </a:solidFill>
              </a:rPr>
              <a:t>SRV-Rohexport: Links, Rechts, Belastung, Zeit, Stufentabelle</a:t>
            </a:r>
            <a:endParaRPr lang="de-DE" sz="1100" dirty="0"/>
          </a:p>
        </p:txBody>
      </p:sp>
      <p:sp>
        <p:nvSpPr>
          <p:cNvPr id="8" name="Step dot 2"/>
          <p:cNvSpPr/>
          <p:nvPr/>
        </p:nvSpPr>
        <p:spPr>
          <a:xfrm>
            <a:off x="2212848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 txBox="1"/>
          <p:nvPr/>
        </p:nvSpPr>
        <p:spPr>
          <a:xfrm>
            <a:off x="221284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800" b="1" dirty="0">
                <a:solidFill>
                  <a:schemeClr val="bg1"/>
                </a:solidFill>
              </a:rPr>
              <a:t>2</a:t>
            </a:r>
            <a:endParaRPr lang="de-DE" sz="1800" dirty="0"/>
          </a:p>
        </p:txBody>
      </p:sp>
      <p:sp>
        <p:nvSpPr>
          <p:cNvPr id="10" name="Arrow 2"/>
          <p:cNvSpPr/>
          <p:nvPr/>
        </p:nvSpPr>
        <p:spPr>
          <a:xfrm>
            <a:off x="2816352" y="1600200"/>
            <a:ext cx="7315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 txBox="1"/>
          <p:nvPr/>
        </p:nvSpPr>
        <p:spPr>
          <a:xfrm>
            <a:off x="1847088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sz="1400" b="1" dirty="0">
                <a:solidFill>
                  <a:schemeClr val="tx2"/>
                </a:solidFill>
              </a:rPr>
              <a:t>Reibwert je Messpunkt</a:t>
            </a:r>
            <a:endParaRPr lang="de-DE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847088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sz="1100" dirty="0">
                <a:solidFill>
                  <a:schemeClr val="accent4"/>
                </a:solidFill>
              </a:rPr>
              <a:t>μ = (F_L + F_R) / F_N, optionale Lastkorrektur λ</a:t>
            </a:r>
            <a:endParaRPr lang="de-DE" sz="1100" dirty="0"/>
          </a:p>
        </p:txBody>
      </p:sp>
      <p:sp>
        <p:nvSpPr>
          <p:cNvPr id="13" name="Step dot 3"/>
          <p:cNvSpPr/>
          <p:nvPr/>
        </p:nvSpPr>
        <p:spPr>
          <a:xfrm>
            <a:off x="3602736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 txBox="1"/>
          <p:nvPr/>
        </p:nvSpPr>
        <p:spPr>
          <a:xfrm>
            <a:off x="360273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800" b="1" dirty="0">
                <a:solidFill>
                  <a:schemeClr val="bg1"/>
                </a:solidFill>
              </a:rPr>
              <a:t>3</a:t>
            </a:r>
            <a:endParaRPr lang="de-DE" sz="1800" dirty="0"/>
          </a:p>
        </p:txBody>
      </p:sp>
      <p:sp>
        <p:nvSpPr>
          <p:cNvPr id="15" name="Arrow 3"/>
          <p:cNvSpPr/>
          <p:nvPr/>
        </p:nvSpPr>
        <p:spPr>
          <a:xfrm>
            <a:off x="4206240" y="1600200"/>
            <a:ext cx="7315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 txBox="1"/>
          <p:nvPr/>
        </p:nvSpPr>
        <p:spPr>
          <a:xfrm>
            <a:off x="3236976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sz="1400" b="1" dirty="0">
                <a:solidFill>
                  <a:schemeClr val="tx2"/>
                </a:solidFill>
              </a:rPr>
              <a:t>Offset &amp; Filter</a:t>
            </a:r>
            <a:endParaRPr lang="de-DE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36976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sz="1100" dirty="0">
                <a:solidFill>
                  <a:schemeClr val="accent4"/>
                </a:solidFill>
              </a:rPr>
              <a:t>Auf null zentrieren; gleitender Median nur zur Suche der Nulldurchgänge</a:t>
            </a:r>
            <a:endParaRPr lang="de-DE" sz="1100" dirty="0"/>
          </a:p>
        </p:txBody>
      </p:sp>
      <p:sp>
        <p:nvSpPr>
          <p:cNvPr id="18" name="Step dot 4"/>
          <p:cNvSpPr/>
          <p:nvPr/>
        </p:nvSpPr>
        <p:spPr>
          <a:xfrm>
            <a:off x="4992624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 txBox="1"/>
          <p:nvPr/>
        </p:nvSpPr>
        <p:spPr>
          <a:xfrm>
            <a:off x="499262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800" b="1" dirty="0">
                <a:solidFill>
                  <a:schemeClr val="bg1"/>
                </a:solidFill>
              </a:rPr>
              <a:t>4</a:t>
            </a:r>
            <a:endParaRPr lang="de-DE" sz="1800" dirty="0"/>
          </a:p>
        </p:txBody>
      </p:sp>
      <p:sp>
        <p:nvSpPr>
          <p:cNvPr id="20" name="Arrow 4"/>
          <p:cNvSpPr/>
          <p:nvPr/>
        </p:nvSpPr>
        <p:spPr>
          <a:xfrm>
            <a:off x="5596128" y="1600200"/>
            <a:ext cx="7315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 txBox="1"/>
          <p:nvPr/>
        </p:nvSpPr>
        <p:spPr>
          <a:xfrm>
            <a:off x="4626864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sz="1400" b="1" dirty="0">
                <a:solidFill>
                  <a:schemeClr val="tx2"/>
                </a:solidFill>
              </a:rPr>
              <a:t>Nulldurchgänge</a:t>
            </a:r>
            <a:endParaRPr lang="de-DE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626864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sz="1100" dirty="0">
                <a:solidFill>
                  <a:schemeClr val="accent4"/>
                </a:solidFill>
              </a:rPr>
              <a:t>Jeder Vorzeichenwechsel = Hubumkehr; Pausen werden verworfen</a:t>
            </a:r>
            <a:endParaRPr lang="de-DE" sz="1100" dirty="0"/>
          </a:p>
        </p:txBody>
      </p:sp>
      <p:sp>
        <p:nvSpPr>
          <p:cNvPr id="23" name="Step dot 5"/>
          <p:cNvSpPr/>
          <p:nvPr/>
        </p:nvSpPr>
        <p:spPr>
          <a:xfrm>
            <a:off x="6382512" y="13258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 txBox="1"/>
          <p:nvPr/>
        </p:nvSpPr>
        <p:spPr>
          <a:xfrm>
            <a:off x="638251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800" b="1" dirty="0">
                <a:solidFill>
                  <a:schemeClr val="bg1"/>
                </a:solidFill>
              </a:rPr>
              <a:t>5</a:t>
            </a:r>
            <a:endParaRPr lang="de-DE" sz="1800" dirty="0"/>
          </a:p>
        </p:txBody>
      </p:sp>
      <p:sp>
        <p:nvSpPr>
          <p:cNvPr id="25" name="Arrow 5"/>
          <p:cNvSpPr/>
          <p:nvPr/>
        </p:nvSpPr>
        <p:spPr>
          <a:xfrm>
            <a:off x="6986016" y="1600200"/>
            <a:ext cx="7315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 txBox="1"/>
          <p:nvPr/>
        </p:nvSpPr>
        <p:spPr>
          <a:xfrm>
            <a:off x="6016752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sz="1400" b="1" dirty="0">
                <a:solidFill>
                  <a:schemeClr val="tx2"/>
                </a:solidFill>
              </a:rPr>
              <a:t>Statisch &amp; dynamisch</a:t>
            </a:r>
            <a:endParaRPr lang="de-DE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016752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sz="1100" dirty="0">
                <a:solidFill>
                  <a:schemeClr val="accent4"/>
                </a:solidFill>
              </a:rPr>
              <a:t>Spitze nach jedem Nulldurchgang; Mittelwert über den Hub</a:t>
            </a:r>
            <a:endParaRPr lang="de-DE" sz="1100" dirty="0"/>
          </a:p>
        </p:txBody>
      </p:sp>
      <p:sp>
        <p:nvSpPr>
          <p:cNvPr id="28" name="Step dot 6"/>
          <p:cNvSpPr/>
          <p:nvPr/>
        </p:nvSpPr>
        <p:spPr>
          <a:xfrm>
            <a:off x="777240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9" name="Text 27"/>
          <p:cNvSpPr txBox="1"/>
          <p:nvPr/>
        </p:nvSpPr>
        <p:spPr>
          <a:xfrm>
            <a:off x="77724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800" b="1" dirty="0">
                <a:solidFill>
                  <a:schemeClr val="bg1"/>
                </a:solidFill>
              </a:rPr>
              <a:t>6</a:t>
            </a:r>
            <a:endParaRPr lang="de-DE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sz="1400" b="1" dirty="0">
                <a:solidFill>
                  <a:schemeClr val="tx2"/>
                </a:solidFill>
              </a:rPr>
              <a:t>Statistik je Stufe</a:t>
            </a:r>
            <a:endParaRPr lang="de-DE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sz="1100" dirty="0">
                <a:solidFill>
                  <a:schemeClr val="accent4"/>
                </a:solidFill>
              </a:rPr>
              <a:t>Tabelle, Diagramm, Speichern in der History-Datenbank</a:t>
            </a:r>
            <a:endParaRPr lang="de-DE" sz="1100" dirty="0"/>
          </a:p>
        </p:txBody>
      </p:sp>
      <p:sp>
        <p:nvSpPr>
          <p:cNvPr id="32" name="Validation note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3" name="Text 31"/>
          <p:cNvSpPr txBox="1"/>
          <p:nvPr/>
        </p:nvSpPr>
        <p:spPr>
          <a:xfrm>
            <a:off x="685800" y="3840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de-DE" sz="1500" b="1" dirty="0">
                <a:solidFill>
                  <a:schemeClr val="tx2"/>
                </a:solidFill>
              </a:rPr>
              <a:t>Stimmt mit der VBA-Referenzarbeitsmappe überein. </a:t>
            </a:r>
            <a:r>
              <a:rPr lang="de-DE" sz="1500" dirty="0">
                <a:solidFill>
                  <a:schemeClr val="tx1"/>
                </a:solidFill>
              </a:rPr>
              <a:t>Jede Formel und jeder Rundungsschritt ist auf der Hilfeseite der App dokumentiert (The CoF Ledger).</a:t>
            </a:r>
            <a:endParaRPr lang="de-DE" sz="15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de-DE" b="0"/>
              <a:t>2</a:t>
            </a:fld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000" b="1" dirty="0">
                <a:solidFill>
                  <a:schemeClr val="tx2"/>
                </a:solidFill>
              </a:rPr>
              <a:t>So wird der Reibwert gemessen</a:t>
            </a:r>
            <a:endParaRPr lang="de-DE" sz="3000" dirty="0"/>
          </a:p>
        </p:txBody>
      </p:sp>
      <p:pic>
        <p:nvPicPr>
          <p:cNvPr id="3" name="Test rig diagram" descr="C:\Users\kaz\AppData\Local\Temp\claude\c--Users-kaz-Desktop-Tribology-ICELAB-Eval-Tool-backend\c3f5cce8-69e9-484c-9d14-43d68999367f\scratchpad\img\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120640" cy="2180626"/>
          </a:xfrm>
          <a:prstGeom prst="rect">
            <a:avLst/>
          </a:prstGeom>
        </p:spPr>
      </p:pic>
      <p:sp>
        <p:nvSpPr>
          <p:cNvPr id="4" name="Formula card"/>
          <p:cNvSpPr/>
          <p:nvPr/>
        </p:nvSpPr>
        <p:spPr>
          <a:xfrm>
            <a:off x="5943600" y="1188720"/>
            <a:ext cx="2743200" cy="2180844"/>
          </a:xfrm>
          <a:prstGeom prst="roundRect">
            <a:avLst>
              <a:gd name="adj" fmla="val 419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2"/>
          <p:cNvSpPr txBox="1"/>
          <p:nvPr/>
        </p:nvSpPr>
        <p:spPr>
          <a:xfrm>
            <a:off x="617220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300" b="1" dirty="0">
                <a:solidFill>
                  <a:schemeClr val="accent3"/>
                </a:solidFill>
              </a:rPr>
              <a:t>Reibwert je Messpunkt</a:t>
            </a:r>
            <a:endParaRPr lang="de-DE" sz="1300" dirty="0"/>
          </a:p>
        </p:txBody>
      </p:sp>
      <p:sp>
        <p:nvSpPr>
          <p:cNvPr id="6" name="Formula backing"/>
          <p:cNvSpPr/>
          <p:nvPr/>
        </p:nvSpPr>
        <p:spPr>
          <a:xfrm>
            <a:off x="6172200" y="1783080"/>
            <a:ext cx="228600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7" name="CoF formula" descr="C:\Users\kaz\AppData\Local\Temp\claude\c--Users-kaz-Desktop-Tribology-ICELAB-Eval-Tool-backend\c3f5cce8-69e9-484c-9d14-43d68999367f\scratchpad\img\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828800"/>
            <a:ext cx="2103120" cy="62015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7220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200" dirty="0">
                <a:solidFill>
                  <a:schemeClr val="accent5"/>
                </a:solidFill>
              </a:rPr>
              <a:t>Summe der linken und rechten Reibkraft geteilt durch die Normalkraft</a:t>
            </a:r>
            <a:endParaRPr lang="de-DE" sz="1200" dirty="0"/>
          </a:p>
        </p:txBody>
      </p:sp>
      <p:sp>
        <p:nvSpPr>
          <p:cNvPr id="9" name="Rig caption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6"/>
          <p:cNvSpPr txBox="1"/>
          <p:nvPr/>
        </p:nvSpPr>
        <p:spPr>
          <a:xfrm>
            <a:off x="685800" y="361188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de-DE" sz="1500" dirty="0">
                <a:solidFill>
                  <a:schemeClr val="tx1"/>
                </a:solidFill>
              </a:rPr>
              <a:t>Der obere Körper gleitet unter Last hin und her; der untere Körper bleibt fest. Die Reibung zieht den unteren Körper mit (F</a:t>
            </a:r>
            <a:r>
              <a:rPr lang="de-DE" sz="1500" baseline="-40000" dirty="0">
                <a:solidFill>
                  <a:schemeClr val="tx1"/>
                </a:solidFill>
              </a:rPr>
              <a:t>f</a:t>
            </a:r>
            <a:r>
              <a:rPr lang="de-DE" sz="1500" dirty="0">
                <a:solidFill>
                  <a:schemeClr val="tx1"/>
                </a:solidFill>
              </a:rPr>
              <a:t>), und die Sensoren links und rechts halten ihn fest. Zusammen messen sie F</a:t>
            </a:r>
            <a:r>
              <a:rPr lang="de-DE" sz="1500" baseline="-40000" dirty="0">
                <a:solidFill>
                  <a:schemeClr val="tx1"/>
                </a:solidFill>
              </a:rPr>
              <a:t>f</a:t>
            </a:r>
            <a:r>
              <a:rPr lang="de-DE" sz="1500" dirty="0">
                <a:solidFill>
                  <a:schemeClr val="tx1"/>
                </a:solidFill>
              </a:rPr>
              <a:t> = F</a:t>
            </a:r>
            <a:r>
              <a:rPr lang="de-DE" sz="1500" baseline="-40000" dirty="0">
                <a:solidFill>
                  <a:schemeClr val="tx1"/>
                </a:solidFill>
              </a:rPr>
              <a:t>f,L</a:t>
            </a:r>
            <a:r>
              <a:rPr lang="de-DE" sz="1500" dirty="0">
                <a:solidFill>
                  <a:schemeClr val="tx1"/>
                </a:solidFill>
              </a:rPr>
              <a:t> + F</a:t>
            </a:r>
            <a:r>
              <a:rPr lang="de-DE" sz="1500" baseline="-40000" dirty="0">
                <a:solidFill>
                  <a:schemeClr val="tx1"/>
                </a:solidFill>
              </a:rPr>
              <a:t>f,R</a:t>
            </a:r>
            <a:r>
              <a:rPr lang="de-DE" sz="1500" dirty="0">
                <a:solidFill>
                  <a:schemeClr val="tx1"/>
                </a:solidFill>
              </a:rPr>
              <a:t>. Geteilt durch die Normalkraft F</a:t>
            </a:r>
            <a:r>
              <a:rPr lang="de-DE" sz="1500" baseline="-40000" dirty="0">
                <a:solidFill>
                  <a:schemeClr val="tx1"/>
                </a:solidFill>
              </a:rPr>
              <a:t>N</a:t>
            </a:r>
            <a:r>
              <a:rPr lang="de-DE" sz="1500" dirty="0">
                <a:solidFill>
                  <a:schemeClr val="tx1"/>
                </a:solidFill>
              </a:rPr>
              <a:t> ergibt sich μ.</a:t>
            </a:r>
            <a:endParaRPr lang="de-DE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de-DE" b="0"/>
              <a:t>3</a:t>
            </a:fld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000" b="1" dirty="0">
                <a:solidFill>
                  <a:schemeClr val="tx2"/>
                </a:solidFill>
              </a:rPr>
              <a:t>Ein Versuch besteht aus mehreren Stufen</a:t>
            </a:r>
            <a:endParaRPr lang="de-DE" sz="3000" dirty="0"/>
          </a:p>
        </p:txBody>
      </p:sp>
      <p:pic>
        <p:nvPicPr>
          <p:cNvPr id="3" name="Test steps chart" descr="C:\Users\kaz\AppData\Local\Temp\claude\c--Users-kaz-Desktop-Tribology-ICELAB-Eval-Tool-backend\c3f5cce8-69e9-484c-9d14-43d68999367f\scratchpad\img\image3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1755648"/>
          </a:xfrm>
          <a:prstGeom prst="rect">
            <a:avLst/>
          </a:prstGeom>
        </p:spPr>
      </p:pic>
      <p:sp>
        <p:nvSpPr>
          <p:cNvPr id="4" name="Steps caption"/>
          <p:cNvSpPr/>
          <p:nvPr/>
        </p:nvSpPr>
        <p:spPr>
          <a:xfrm>
            <a:off x="457200" y="352044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2"/>
          <p:cNvSpPr txBox="1"/>
          <p:nvPr/>
        </p:nvSpPr>
        <p:spPr>
          <a:xfrm>
            <a:off x="685800" y="35204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de-DE" sz="1500" b="1" dirty="0">
                <a:solidFill>
                  <a:schemeClr val="tx2"/>
                </a:solidFill>
              </a:rPr>
              <a:t>Jede Stufe läuft mit eigener Drehzahl. </a:t>
            </a:r>
            <a:r>
              <a:rPr lang="de-DE" sz="1500" dirty="0">
                <a:solidFill>
                  <a:schemeClr val="tx1"/>
                </a:solidFill>
              </a:rPr>
              <a:t>Innerhalb einer Stufe schwingt der Reibwert mit jedem Hub hin und her, daher haben schnellere Stufen mehr Hübe in derselben Zeit.</a:t>
            </a:r>
            <a:endParaRPr lang="de-DE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de-DE" b="0"/>
              <a:t>4</a:t>
            </a:fld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000" b="1" dirty="0">
                <a:solidFill>
                  <a:schemeClr val="tx2"/>
                </a:solidFill>
              </a:rPr>
              <a:t>Offset &amp; Filter</a:t>
            </a:r>
            <a:endParaRPr lang="de-DE" sz="3000" dirty="0"/>
          </a:p>
        </p:txBody>
      </p:sp>
      <p:pic>
        <p:nvPicPr>
          <p:cNvPr id="3" name="Offset and filter diagram" descr="C:\Users\kaz\AppData\Local\Temp\claude\c--Users-kaz-Desktop-Tribology-ICELAB-Eval-Tool-backend\c3f5cce8-69e9-484c-9d14-43d68999367f\scratchpad\img\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8229600" cy="1982942"/>
          </a:xfrm>
          <a:prstGeom prst="rect">
            <a:avLst/>
          </a:prstGeom>
        </p:spPr>
      </p:pic>
      <p:sp>
        <p:nvSpPr>
          <p:cNvPr id="4" name="Offset caption"/>
          <p:cNvSpPr/>
          <p:nvPr/>
        </p:nvSpPr>
        <p:spPr>
          <a:xfrm>
            <a:off x="457200" y="3520440"/>
            <a:ext cx="3977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2"/>
          <p:cNvSpPr txBox="1"/>
          <p:nvPr/>
        </p:nvSpPr>
        <p:spPr>
          <a:xfrm>
            <a:off x="685800" y="352044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de-DE" sz="1500" b="1" dirty="0">
                <a:solidFill>
                  <a:schemeClr val="tx2"/>
                </a:solidFill>
              </a:rPr>
              <a:t>Offset </a:t>
            </a:r>
            <a:r>
              <a:rPr lang="de-DE" sz="1500" dirty="0">
                <a:solidFill>
                  <a:schemeClr val="tx1"/>
                </a:solidFill>
              </a:rPr>
              <a:t>zieht mean(μ) ab, sodass das verrauschte Signal um null liegt. Das Rauschen bleibt.</a:t>
            </a:r>
            <a:endParaRPr lang="de-DE" sz="1500" dirty="0"/>
          </a:p>
        </p:txBody>
      </p:sp>
      <p:sp>
        <p:nvSpPr>
          <p:cNvPr id="6" name="Filter caption"/>
          <p:cNvSpPr/>
          <p:nvPr/>
        </p:nvSpPr>
        <p:spPr>
          <a:xfrm>
            <a:off x="4709160" y="3520440"/>
            <a:ext cx="3977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4"/>
          <p:cNvSpPr txBox="1"/>
          <p:nvPr/>
        </p:nvSpPr>
        <p:spPr>
          <a:xfrm>
            <a:off x="4937760" y="352044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de-DE" sz="1500" b="1" dirty="0">
                <a:solidFill>
                  <a:schemeClr val="tx2"/>
                </a:solidFill>
              </a:rPr>
              <a:t>Filter </a:t>
            </a:r>
            <a:r>
              <a:rPr lang="de-DE" sz="1500" dirty="0">
                <a:solidFill>
                  <a:schemeClr val="tx1"/>
                </a:solidFill>
              </a:rPr>
              <a:t>entfernt das Rauschen und macht aus μ das geglättete μ′. Es dient nur zur Suche der Nulldurchgänge.</a:t>
            </a:r>
            <a:endParaRPr lang="de-DE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de-DE" b="0"/>
              <a:t>5</a:t>
            </a:fld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000" b="1" dirty="0">
                <a:solidFill>
                  <a:schemeClr val="tx2"/>
                </a:solidFill>
              </a:rPr>
              <a:t>Nulldurchgänge</a:t>
            </a:r>
            <a:endParaRPr lang="de-DE" sz="3000" dirty="0"/>
          </a:p>
        </p:txBody>
      </p:sp>
      <p:pic>
        <p:nvPicPr>
          <p:cNvPr id="3" name="Zero crossings diagram" descr="C:\Users\kaz\AppData\Local\Temp\claude\c--Users-kaz-Desktop-Tribology-ICELAB-Eval-Tool-backend\c3f5cce8-69e9-484c-9d14-43d68999367f\scratchpad\img\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7680960" cy="2230894"/>
          </a:xfrm>
          <a:prstGeom prst="rect">
            <a:avLst/>
          </a:prstGeom>
        </p:spPr>
      </p:pic>
      <p:sp>
        <p:nvSpPr>
          <p:cNvPr id="4" name="Crossings caption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2"/>
          <p:cNvSpPr txBox="1"/>
          <p:nvPr/>
        </p:nvSpPr>
        <p:spPr>
          <a:xfrm>
            <a:off x="685800" y="352044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de-DE" sz="1500" b="1" dirty="0">
                <a:solidFill>
                  <a:schemeClr val="tx2"/>
                </a:solidFill>
              </a:rPr>
              <a:t>Warum zuerst die Nulldurchgänge: </a:t>
            </a:r>
            <a:r>
              <a:rPr lang="de-DE" sz="1500" dirty="0">
                <a:solidFill>
                  <a:schemeClr val="tx1"/>
                </a:solidFill>
              </a:rPr>
              <a:t>Die Spitzen lassen sich erst finden, wenn das Signal in Hübe zerlegt ist. Jeder Nulldurchgang (j) markiert den Beginn eines Hubs, und die Spitze μ* wird in einem kurzen Fenster (schattiert) direkt danach gesucht.</a:t>
            </a:r>
            <a:endParaRPr lang="de-DE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de-DE" b="0"/>
              <a:t>6</a:t>
            </a:fld>
            <a:endParaRPr lang="de-D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000" b="1" dirty="0">
                <a:solidFill>
                  <a:schemeClr val="tx2"/>
                </a:solidFill>
              </a:rPr>
              <a:t>Statischer und dynamischer Reibwert je Zyklus</a:t>
            </a:r>
            <a:endParaRPr lang="de-DE" sz="3000" dirty="0"/>
          </a:p>
        </p:txBody>
      </p:sp>
      <p:pic>
        <p:nvPicPr>
          <p:cNvPr id="3" name="One cycle diagram" descr="C:\Users\kaz\AppData\Local\Temp\claude\c--Users-kaz-Desktop-Tribology-ICELAB-Eval-Tool-backend\c3f5cce8-69e9-484c-9d14-43d68999367f\scratchpad\img\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5669280" cy="2104000"/>
          </a:xfrm>
          <a:prstGeom prst="rect">
            <a:avLst/>
          </a:prstGeom>
        </p:spPr>
      </p:pic>
      <p:sp>
        <p:nvSpPr>
          <p:cNvPr id="4" name="Definition 1"/>
          <p:cNvSpPr/>
          <p:nvPr/>
        </p:nvSpPr>
        <p:spPr>
          <a:xfrm>
            <a:off x="6309360" y="1234440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2"/>
          <p:cNvSpPr txBox="1"/>
          <p:nvPr/>
        </p:nvSpPr>
        <p:spPr>
          <a:xfrm>
            <a:off x="6446520" y="130759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400" b="1" dirty="0">
                <a:solidFill>
                  <a:schemeClr val="bg1"/>
                </a:solidFill>
              </a:rPr>
              <a:t>Statischer Reibwert  μ*</a:t>
            </a:r>
            <a:endParaRPr lang="de-DE" sz="1400" dirty="0"/>
          </a:p>
          <a:p>
            <a:pPr marL="0" indent="0">
              <a:buNone/>
            </a:pPr>
            <a:r>
              <a:rPr lang="de-DE" sz="1200" dirty="0">
                <a:solidFill>
                  <a:schemeClr val="bg1"/>
                </a:solidFill>
              </a:rPr>
              <a:t>die Spitze im statischen Fenster (schattiert), direkt nach Hubbeginn</a:t>
            </a:r>
            <a:endParaRPr lang="de-DE" sz="1400" dirty="0"/>
          </a:p>
        </p:txBody>
      </p:sp>
      <p:sp>
        <p:nvSpPr>
          <p:cNvPr id="6" name="Definition 2"/>
          <p:cNvSpPr/>
          <p:nvPr/>
        </p:nvSpPr>
        <p:spPr>
          <a:xfrm>
            <a:off x="6309360" y="2423160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4"/>
          <p:cNvSpPr txBox="1"/>
          <p:nvPr/>
        </p:nvSpPr>
        <p:spPr>
          <a:xfrm>
            <a:off x="6446520" y="249631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400" b="1" dirty="0">
                <a:solidFill>
                  <a:schemeClr val="tx1"/>
                </a:solidFill>
              </a:rPr>
              <a:t>Dynamischer Reibwert  μ̄</a:t>
            </a:r>
            <a:endParaRPr lang="de-DE" sz="1400" dirty="0"/>
          </a:p>
          <a:p>
            <a:pPr marL="0" indent="0">
              <a:buNone/>
            </a:pPr>
            <a:r>
              <a:rPr lang="de-DE" sz="1200" dirty="0">
                <a:solidFill>
                  <a:schemeClr val="tx1"/>
                </a:solidFill>
              </a:rPr>
              <a:t>der Mittelwert im dynamischen Fenster (gestrichelt) in der Hubmitte</a:t>
            </a:r>
            <a:endParaRPr lang="de-DE" sz="1400" dirty="0"/>
          </a:p>
        </p:txBody>
      </p:sp>
      <p:sp>
        <p:nvSpPr>
          <p:cNvPr id="8" name="Cycle caption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" name="Text 6"/>
          <p:cNvSpPr txBox="1"/>
          <p:nvPr/>
        </p:nvSpPr>
        <p:spPr>
          <a:xfrm>
            <a:off x="685800" y="37947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de-DE" sz="1500" dirty="0">
                <a:solidFill>
                  <a:schemeClr val="tx1"/>
                </a:solidFill>
              </a:rPr>
              <a:t>Die Fensterlagen werden in Prozent des Hubs angegeben </a:t>
            </a:r>
            <a:r>
              <a:rPr lang="de-DE" sz="1500" b="1" dirty="0">
                <a:solidFill>
                  <a:schemeClr val="tx2"/>
                </a:solidFill>
              </a:rPr>
              <a:t>(Static %, Dyn min %, Dyn max %)</a:t>
            </a:r>
            <a:r>
              <a:rPr lang="de-DE" sz="1500" dirty="0">
                <a:solidFill>
                  <a:schemeClr val="tx1"/>
                </a:solidFill>
              </a:rPr>
              <a:t>, daher gelten dieselben Einstellungen für jede Drehzahl.</a:t>
            </a:r>
            <a:endParaRPr lang="de-DE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de-DE" b="0"/>
              <a:t>7</a:t>
            </a:fld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000" b="1" dirty="0">
                <a:solidFill>
                  <a:schemeClr val="tx2"/>
                </a:solidFill>
              </a:rPr>
              <a:t>Was das Tool bereits kann</a:t>
            </a:r>
            <a:endParaRPr lang="de-DE" sz="3000" dirty="0"/>
          </a:p>
        </p:txBody>
      </p:sp>
      <p:sp>
        <p:nvSpPr>
          <p:cNvPr id="3" name="Feature card 1"/>
          <p:cNvSpPr/>
          <p:nvPr/>
        </p:nvSpPr>
        <p:spPr>
          <a:xfrm>
            <a:off x="45720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500" b="1" dirty="0">
                <a:solidFill>
                  <a:schemeClr val="tx2"/>
                </a:solidFill>
              </a:rPr>
              <a:t>Analyse-Seite</a:t>
            </a:r>
            <a:endParaRPr lang="de-DE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200" dirty="0">
                <a:solidFill>
                  <a:schemeClr val="tx1"/>
                </a:solidFill>
              </a:rPr>
              <a:t>Einzeilige Werkzeugleiste, Rohdaten-Karte, interaktives Reibwert-Diagramm mit statischen und dynamischen Markern</a:t>
            </a:r>
            <a:endParaRPr lang="de-DE" sz="1200" dirty="0"/>
          </a:p>
        </p:txBody>
      </p:sp>
      <p:sp>
        <p:nvSpPr>
          <p:cNvPr id="6" name="Feature card 2"/>
          <p:cNvSpPr/>
          <p:nvPr/>
        </p:nvSpPr>
        <p:spPr>
          <a:xfrm>
            <a:off x="326898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 txBox="1"/>
          <p:nvPr/>
        </p:nvSpPr>
        <p:spPr>
          <a:xfrm>
            <a:off x="3451860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500" b="1" dirty="0">
                <a:solidFill>
                  <a:schemeClr val="tx2"/>
                </a:solidFill>
              </a:rPr>
              <a:t>Drehzahlpuls-Methode</a:t>
            </a:r>
            <a:endParaRPr lang="de-DE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51860" y="1737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200" dirty="0">
                <a:solidFill>
                  <a:schemeClr val="tx1"/>
                </a:solidFill>
              </a:rPr>
              <a:t>Statischer Reibwert als erste Spitze nach dem Drehzahlpuls, mit Offsets je Stufe</a:t>
            </a:r>
            <a:endParaRPr lang="de-DE" sz="1200" dirty="0"/>
          </a:p>
        </p:txBody>
      </p:sp>
      <p:sp>
        <p:nvSpPr>
          <p:cNvPr id="9" name="Feature card 3"/>
          <p:cNvSpPr/>
          <p:nvPr/>
        </p:nvSpPr>
        <p:spPr>
          <a:xfrm>
            <a:off x="608076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 txBox="1"/>
          <p:nvPr/>
        </p:nvSpPr>
        <p:spPr>
          <a:xfrm>
            <a:off x="6263640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500" b="1" dirty="0">
                <a:solidFill>
                  <a:schemeClr val="tx2"/>
                </a:solidFill>
              </a:rPr>
              <a:t>Adaptive Huberkennung</a:t>
            </a:r>
            <a:endParaRPr lang="de-DE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737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200" dirty="0">
                <a:solidFill>
                  <a:schemeClr val="tx1"/>
                </a:solidFill>
              </a:rPr>
              <a:t>Die Pausenschwelle folgt der Drehzahl jeder Stufe, langsame Stufen werden nicht mehr abgeschnitten</a:t>
            </a:r>
            <a:endParaRPr lang="de-DE" sz="1200" dirty="0"/>
          </a:p>
        </p:txBody>
      </p:sp>
      <p:sp>
        <p:nvSpPr>
          <p:cNvPr id="12" name="Feature card 4"/>
          <p:cNvSpPr/>
          <p:nvPr/>
        </p:nvSpPr>
        <p:spPr>
          <a:xfrm>
            <a:off x="45720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 txBox="1"/>
          <p:nvPr/>
        </p:nvSpPr>
        <p:spPr>
          <a:xfrm>
            <a:off x="64008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500" b="1" dirty="0">
                <a:solidFill>
                  <a:schemeClr val="tx2"/>
                </a:solidFill>
              </a:rPr>
              <a:t>History-Datenbank</a:t>
            </a:r>
            <a:endParaRPr lang="de-DE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200" dirty="0">
                <a:solidFill>
                  <a:schemeClr val="tx1"/>
                </a:solidFill>
              </a:rPr>
              <a:t>Versuche mit ihren Parametern speichern, neu laden, überschreiben und vergleichen</a:t>
            </a:r>
            <a:endParaRPr lang="de-DE" sz="1200" dirty="0"/>
          </a:p>
        </p:txBody>
      </p:sp>
      <p:sp>
        <p:nvSpPr>
          <p:cNvPr id="15" name="Feature card 5"/>
          <p:cNvSpPr/>
          <p:nvPr/>
        </p:nvSpPr>
        <p:spPr>
          <a:xfrm>
            <a:off x="326898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 txBox="1"/>
          <p:nvPr/>
        </p:nvSpPr>
        <p:spPr>
          <a:xfrm>
            <a:off x="345186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500" b="1" dirty="0">
                <a:solidFill>
                  <a:schemeClr val="tx2"/>
                </a:solidFill>
              </a:rPr>
              <a:t>Hilfeseite</a:t>
            </a:r>
            <a:endParaRPr lang="de-DE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51860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200" dirty="0">
                <a:solidFill>
                  <a:schemeClr val="tx1"/>
                </a:solidFill>
              </a:rPr>
              <a:t>Formel für Formel erklärt, damit Ergebnisse von Hand prüfbar sind</a:t>
            </a:r>
            <a:endParaRPr lang="de-DE" sz="1200" dirty="0"/>
          </a:p>
        </p:txBody>
      </p:sp>
      <p:sp>
        <p:nvSpPr>
          <p:cNvPr id="18" name="Feature card 6"/>
          <p:cNvSpPr/>
          <p:nvPr/>
        </p:nvSpPr>
        <p:spPr>
          <a:xfrm>
            <a:off x="608076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 txBox="1"/>
          <p:nvPr/>
        </p:nvSpPr>
        <p:spPr>
          <a:xfrm>
            <a:off x="626364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500" b="1" dirty="0">
                <a:solidFill>
                  <a:schemeClr val="tx2"/>
                </a:solidFill>
              </a:rPr>
              <a:t>Label-Erfassung</a:t>
            </a:r>
            <a:endParaRPr lang="de-DE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200" dirty="0">
                <a:solidFill>
                  <a:schemeClr val="tx1"/>
                </a:solidFill>
              </a:rPr>
              <a:t>Jeden statischen Punkt als richtig oder falsch markieren und mit dem Versuch speichern</a:t>
            </a:r>
            <a:endParaRPr lang="de-DE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de-DE" b="0"/>
              <a:t>8</a:t>
            </a:fld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000" b="1" dirty="0">
                <a:solidFill>
                  <a:schemeClr val="tx2"/>
                </a:solidFill>
              </a:rPr>
              <a:t>Analysis-Tab</a:t>
            </a:r>
            <a:endParaRPr lang="de-DE" sz="3000" dirty="0"/>
          </a:p>
        </p:txBody>
      </p:sp>
      <p:sp>
        <p:nvSpPr>
          <p:cNvPr id="3" name="Callout dot 1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300" b="1" dirty="0">
                <a:solidFill>
                  <a:schemeClr val="bg1"/>
                </a:solidFill>
              </a:rPr>
              <a:t>1</a:t>
            </a:r>
            <a:endParaRPr lang="de-DE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430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300" b="1" dirty="0">
                <a:solidFill>
                  <a:schemeClr val="tx2"/>
                </a:solidFill>
              </a:rPr>
              <a:t>Hochladen &amp; berechnen</a:t>
            </a:r>
            <a:endParaRPr lang="de-DE" sz="1300" dirty="0"/>
          </a:p>
          <a:p>
            <a:pPr marL="0" indent="0">
              <a:buNone/>
            </a:pPr>
            <a:r>
              <a:rPr lang="de-DE" sz="1300" dirty="0">
                <a:solidFill>
                  <a:schemeClr val="accent4"/>
                </a:solidFill>
              </a:rPr>
              <a:t>Rohdatei (.txt) laden, Auswertung starten, speichern oder in Excel öffnen</a:t>
            </a:r>
            <a:endParaRPr lang="de-DE" sz="1300" dirty="0"/>
          </a:p>
        </p:txBody>
      </p:sp>
      <p:sp>
        <p:nvSpPr>
          <p:cNvPr id="6" name="Callout dot 2"/>
          <p:cNvSpPr/>
          <p:nvPr/>
        </p:nvSpPr>
        <p:spPr>
          <a:xfrm>
            <a:off x="457200" y="1901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 txBox="1"/>
          <p:nvPr/>
        </p:nvSpPr>
        <p:spPr>
          <a:xfrm>
            <a:off x="45720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300" b="1" dirty="0">
                <a:solidFill>
                  <a:schemeClr val="bg1"/>
                </a:solidFill>
              </a:rPr>
              <a:t>2</a:t>
            </a:r>
            <a:endParaRPr lang="de-DE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5623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300" b="1" dirty="0">
                <a:solidFill>
                  <a:schemeClr val="tx2"/>
                </a:solidFill>
              </a:rPr>
              <a:t>Rohdaten-Einstellungen</a:t>
            </a:r>
            <a:endParaRPr lang="de-DE" sz="1300" dirty="0"/>
          </a:p>
          <a:p>
            <a:pPr marL="0" indent="0">
              <a:buNone/>
            </a:pPr>
            <a:r>
              <a:rPr lang="de-DE" sz="1300" dirty="0">
                <a:solidFill>
                  <a:schemeClr val="accent4"/>
                </a:solidFill>
              </a:rPr>
              <a:t>Zeilen und Spalten für Zeit, Reibung, Last und Stufen</a:t>
            </a:r>
            <a:endParaRPr lang="de-DE" sz="1300" dirty="0"/>
          </a:p>
        </p:txBody>
      </p:sp>
      <p:sp>
        <p:nvSpPr>
          <p:cNvPr id="9" name="Callout dot 3"/>
          <p:cNvSpPr/>
          <p:nvPr/>
        </p:nvSpPr>
        <p:spPr>
          <a:xfrm>
            <a:off x="457200" y="26151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 txBox="1"/>
          <p:nvPr/>
        </p:nvSpPr>
        <p:spPr>
          <a:xfrm>
            <a:off x="457200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300" b="1" dirty="0">
                <a:solidFill>
                  <a:schemeClr val="bg1"/>
                </a:solidFill>
              </a:rPr>
              <a:t>3</a:t>
            </a:r>
            <a:endParaRPr lang="de-DE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56946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300" b="1" dirty="0">
                <a:solidFill>
                  <a:schemeClr val="tx2"/>
                </a:solidFill>
              </a:rPr>
              <a:t>Offset, Filter, Auswertung</a:t>
            </a:r>
            <a:endParaRPr lang="de-DE" sz="1300" dirty="0"/>
          </a:p>
        </p:txBody>
      </p:sp>
      <p:sp>
        <p:nvSpPr>
          <p:cNvPr id="12" name="Callout dot 4"/>
          <p:cNvSpPr/>
          <p:nvPr/>
        </p:nvSpPr>
        <p:spPr>
          <a:xfrm>
            <a:off x="457200" y="33284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 txBox="1"/>
          <p:nvPr/>
        </p:nvSpPr>
        <p:spPr>
          <a:xfrm>
            <a:off x="45720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300" b="1" dirty="0">
                <a:solidFill>
                  <a:schemeClr val="bg1"/>
                </a:solidFill>
              </a:rPr>
              <a:t>4</a:t>
            </a:r>
            <a:endParaRPr lang="de-DE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28269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300" b="1" dirty="0">
                <a:solidFill>
                  <a:schemeClr val="tx2"/>
                </a:solidFill>
              </a:rPr>
              <a:t>Puls-Offsets</a:t>
            </a:r>
            <a:endParaRPr lang="de-DE" sz="1300" dirty="0"/>
          </a:p>
          <a:p>
            <a:pPr marL="0" indent="0">
              <a:buNone/>
            </a:pPr>
            <a:r>
              <a:rPr lang="de-DE" sz="1300" dirty="0">
                <a:solidFill>
                  <a:schemeClr val="accent4"/>
                </a:solidFill>
              </a:rPr>
              <a:t>Offsets je Stufe für die Drehzahlpuls-Methode</a:t>
            </a:r>
            <a:endParaRPr lang="de-DE" sz="1300" dirty="0"/>
          </a:p>
        </p:txBody>
      </p:sp>
      <p:sp>
        <p:nvSpPr>
          <p:cNvPr id="15" name="Callout dot 5"/>
          <p:cNvSpPr/>
          <p:nvPr/>
        </p:nvSpPr>
        <p:spPr>
          <a:xfrm>
            <a:off x="45720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 txBox="1"/>
          <p:nvPr/>
        </p:nvSpPr>
        <p:spPr>
          <a:xfrm>
            <a:off x="45720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300" b="1" dirty="0">
                <a:solidFill>
                  <a:schemeClr val="bg1"/>
                </a:solidFill>
              </a:rPr>
              <a:t>5</a:t>
            </a:r>
            <a:endParaRPr lang="de-DE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99592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300" b="1" dirty="0">
                <a:solidFill>
                  <a:schemeClr val="tx2"/>
                </a:solidFill>
              </a:rPr>
              <a:t>Interaktives Diagramm</a:t>
            </a:r>
            <a:endParaRPr lang="de-DE" sz="1300" dirty="0"/>
          </a:p>
          <a:p>
            <a:pPr marL="0" indent="0">
              <a:buNone/>
            </a:pPr>
            <a:r>
              <a:rPr lang="de-DE" sz="1300" dirty="0">
                <a:solidFill>
                  <a:schemeClr val="accent4"/>
                </a:solidFill>
              </a:rPr>
              <a:t>Reibwert mit Drehzahlpuls; Punkte zum Labeln anklicken</a:t>
            </a:r>
            <a:endParaRPr lang="de-DE" sz="1300" dirty="0"/>
          </a:p>
        </p:txBody>
      </p:sp>
      <p:sp>
        <p:nvSpPr>
          <p:cNvPr id="18" name="Screenshot backing"/>
          <p:cNvSpPr/>
          <p:nvPr/>
        </p:nvSpPr>
        <p:spPr>
          <a:xfrm>
            <a:off x="4617720" y="1051560"/>
            <a:ext cx="4069080" cy="3657600"/>
          </a:xfrm>
          <a:prstGeom prst="roundRect">
            <a:avLst>
              <a:gd name="adj" fmla="val 1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19" name="Analysis tab screenshot" descr="C:\Users\kaz\AppData\Local\Temp\claude\c--Users-kaz-Desktop-Tribology-ICELAB-Eval-Tool-backend\c3f5cce8-69e9-484c-9d14-43d68999367f\scratchpad\img\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097280"/>
            <a:ext cx="3527186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de-DE" b="0"/>
              <a:t>9</a:t>
            </a:fld>
            <a:endParaRPr lang="de-D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000" b="1" dirty="0">
                <a:solidFill>
                  <a:schemeClr val="tx2"/>
                </a:solidFill>
              </a:rPr>
              <a:t>History-Tab</a:t>
            </a:r>
            <a:endParaRPr lang="de-DE" sz="3000" dirty="0"/>
          </a:p>
        </p:txBody>
      </p:sp>
      <p:sp>
        <p:nvSpPr>
          <p:cNvPr id="3" name="Callout dot 1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300" b="1" dirty="0">
                <a:solidFill>
                  <a:schemeClr val="bg1"/>
                </a:solidFill>
              </a:rPr>
              <a:t>1</a:t>
            </a:r>
            <a:endParaRPr lang="de-DE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43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300" b="1" dirty="0">
                <a:solidFill>
                  <a:schemeClr val="tx2"/>
                </a:solidFill>
              </a:rPr>
              <a:t>Gespeicherte Versuche</a:t>
            </a:r>
            <a:endParaRPr lang="de-DE" sz="1300" dirty="0"/>
          </a:p>
          <a:p>
            <a:pPr marL="0" indent="0">
              <a:buNone/>
            </a:pPr>
            <a:r>
              <a:rPr lang="de-DE" sz="1300" dirty="0">
                <a:solidFill>
                  <a:schemeClr val="accent4"/>
                </a:solidFill>
              </a:rPr>
              <a:t>Jeder ausgewertete Versuch mit Filter-, Statik- und Dynamik-Einstellungen</a:t>
            </a:r>
            <a:endParaRPr lang="de-DE" sz="1300" dirty="0"/>
          </a:p>
        </p:txBody>
      </p:sp>
      <p:sp>
        <p:nvSpPr>
          <p:cNvPr id="6" name="Callout dot 2"/>
          <p:cNvSpPr/>
          <p:nvPr/>
        </p:nvSpPr>
        <p:spPr>
          <a:xfrm>
            <a:off x="457200" y="20574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300" b="1" dirty="0">
                <a:solidFill>
                  <a:schemeClr val="bg1"/>
                </a:solidFill>
              </a:rPr>
              <a:t>2</a:t>
            </a:r>
            <a:endParaRPr lang="de-DE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011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300" b="1" dirty="0">
                <a:solidFill>
                  <a:schemeClr val="tx2"/>
                </a:solidFill>
              </a:rPr>
              <a:t>Show chart</a:t>
            </a:r>
            <a:endParaRPr lang="de-DE" sz="1300" dirty="0"/>
          </a:p>
          <a:p>
            <a:pPr marL="0" indent="0">
              <a:buNone/>
            </a:pPr>
            <a:r>
              <a:rPr lang="de-DE" sz="1300" dirty="0">
                <a:solidFill>
                  <a:schemeClr val="accent4"/>
                </a:solidFill>
              </a:rPr>
              <a:t>Gespeicherten Versuch mit allen statischen und dynamischen Punkten neu zeichnen</a:t>
            </a:r>
            <a:endParaRPr lang="de-DE" sz="1300" dirty="0"/>
          </a:p>
        </p:txBody>
      </p:sp>
      <p:sp>
        <p:nvSpPr>
          <p:cNvPr id="9" name="Callout dot 3"/>
          <p:cNvSpPr/>
          <p:nvPr/>
        </p:nvSpPr>
        <p:spPr>
          <a:xfrm>
            <a:off x="457200" y="2926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 txBox="1"/>
          <p:nvPr/>
        </p:nvSpPr>
        <p:spPr>
          <a:xfrm>
            <a:off x="45720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300" b="1" dirty="0">
                <a:solidFill>
                  <a:schemeClr val="bg1"/>
                </a:solidFill>
              </a:rPr>
              <a:t>3</a:t>
            </a:r>
            <a:endParaRPr lang="de-DE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880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300" b="1" dirty="0">
                <a:solidFill>
                  <a:schemeClr val="tx2"/>
                </a:solidFill>
              </a:rPr>
              <a:t>Load into Analysis</a:t>
            </a:r>
            <a:endParaRPr lang="de-DE" sz="1300" dirty="0"/>
          </a:p>
          <a:p>
            <a:pPr marL="0" indent="0">
              <a:buNone/>
            </a:pPr>
            <a:r>
              <a:rPr lang="de-DE" sz="1300" dirty="0">
                <a:solidFill>
                  <a:schemeClr val="accent4"/>
                </a:solidFill>
              </a:rPr>
              <a:t>Versuch erneut öffnen, anpassen, neu auswerten und überschreiben</a:t>
            </a:r>
            <a:endParaRPr lang="de-DE" sz="1300" dirty="0"/>
          </a:p>
        </p:txBody>
      </p:sp>
      <p:sp>
        <p:nvSpPr>
          <p:cNvPr id="12" name="Callout dot 4"/>
          <p:cNvSpPr/>
          <p:nvPr/>
        </p:nvSpPr>
        <p:spPr>
          <a:xfrm>
            <a:off x="457200" y="3794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 txBox="1"/>
          <p:nvPr/>
        </p:nvSpPr>
        <p:spPr>
          <a:xfrm>
            <a:off x="45720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300" b="1" dirty="0">
                <a:solidFill>
                  <a:schemeClr val="bg1"/>
                </a:solidFill>
              </a:rPr>
              <a:t>4</a:t>
            </a:r>
            <a:endParaRPr lang="de-DE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749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300" b="1" dirty="0">
                <a:solidFill>
                  <a:schemeClr val="tx2"/>
                </a:solidFill>
              </a:rPr>
              <a:t>Open labels in Excel</a:t>
            </a:r>
            <a:endParaRPr lang="de-DE" sz="1300" dirty="0"/>
          </a:p>
          <a:p>
            <a:pPr marL="0" indent="0">
              <a:buNone/>
            </a:pPr>
            <a:r>
              <a:rPr lang="de-DE" sz="1300" dirty="0">
                <a:solidFill>
                  <a:schemeClr val="accent4"/>
                </a:solidFill>
              </a:rPr>
              <a:t>Alle gelabelten Zyklen in eine Tabelle exportieren</a:t>
            </a:r>
            <a:endParaRPr lang="de-DE" sz="1300" dirty="0"/>
          </a:p>
        </p:txBody>
      </p:sp>
      <p:sp>
        <p:nvSpPr>
          <p:cNvPr id="15" name="Screenshot backing"/>
          <p:cNvSpPr/>
          <p:nvPr/>
        </p:nvSpPr>
        <p:spPr>
          <a:xfrm>
            <a:off x="3794760" y="1051560"/>
            <a:ext cx="4892040" cy="3657600"/>
          </a:xfrm>
          <a:prstGeom prst="roundRect">
            <a:avLst>
              <a:gd name="adj" fmla="val 1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16" name="History tab screenshot" descr="C:\Users\kaz\AppData\Local\Temp\claude\c--Users-kaz-Desktop-Tribology-ICELAB-Eval-Tool-backend\c3f5cce8-69e9-484c-9d14-43d68999367f\scratchpad\img\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161288"/>
            <a:ext cx="4738514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de-DE" b="0"/>
              <a:t>10</a:t>
            </a:fld>
            <a:endParaRPr lang="de-D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chemeClr val="bg1"/>
                </a:solidFill>
              </a:rPr>
              <a:t>Nächste Schritte</a:t>
            </a:r>
            <a:endParaRPr lang="de-DE" sz="3800" dirty="0"/>
          </a:p>
        </p:txBody>
      </p:sp>
      <p:sp>
        <p:nvSpPr>
          <p:cNvPr id="3" name="Next card 1"/>
          <p:cNvSpPr/>
          <p:nvPr/>
        </p:nvSpPr>
        <p:spPr>
          <a:xfrm>
            <a:off x="548640" y="1463040"/>
            <a:ext cx="3840480" cy="3017520"/>
          </a:xfrm>
          <a:prstGeom prst="roundRect">
            <a:avLst>
              <a:gd name="adj" fmla="val 3030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de-DE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2000" b="1" dirty="0">
                <a:solidFill>
                  <a:schemeClr val="bg1"/>
                </a:solidFill>
              </a:rPr>
              <a:t>History-Datenbank ausbauen</a:t>
            </a:r>
            <a:endParaRPr lang="de-DE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500" dirty="0">
                <a:solidFill>
                  <a:schemeClr val="bg1"/>
                </a:solidFill>
              </a:rPr>
              <a:t>500 bis 1.000 Versuche auswerten und speichern</a:t>
            </a:r>
            <a:endParaRPr lang="de-DE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300" i="1" dirty="0">
                <a:solidFill>
                  <a:schemeClr val="accent3"/>
                </a:solidFill>
              </a:rPr>
              <a:t>Mehr gespeicherte Versuche = mehr Lerndaten für die KI.</a:t>
            </a:r>
            <a:endParaRPr lang="de-DE" sz="1300" dirty="0"/>
          </a:p>
        </p:txBody>
      </p:sp>
      <p:sp>
        <p:nvSpPr>
          <p:cNvPr id="8" name="Next card 2"/>
          <p:cNvSpPr/>
          <p:nvPr/>
        </p:nvSpPr>
        <p:spPr>
          <a:xfrm>
            <a:off x="4663440" y="1463040"/>
            <a:ext cx="3840480" cy="3017520"/>
          </a:xfrm>
          <a:prstGeom prst="roundRect">
            <a:avLst>
              <a:gd name="adj" fmla="val 3030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 txBox="1"/>
          <p:nvPr/>
        </p:nvSpPr>
        <p:spPr>
          <a:xfrm>
            <a:off x="493776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de-DE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2000" b="1" dirty="0">
                <a:solidFill>
                  <a:schemeClr val="bg1"/>
                </a:solidFill>
              </a:rPr>
              <a:t>KI-Tab hinzufügen</a:t>
            </a:r>
            <a:endParaRPr lang="de-DE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971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500" dirty="0">
                <a:solidFill>
                  <a:schemeClr val="bg1"/>
                </a:solidFill>
              </a:rPr>
              <a:t>Reibung aus den Versuchsdaten vorhersagen: Reibwert, Druck, Temperatur und weitere Bedingungen.</a:t>
            </a:r>
            <a:endParaRPr lang="de-DE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300" i="1" dirty="0">
                <a:solidFill>
                  <a:schemeClr val="accent3"/>
                </a:solidFill>
              </a:rPr>
              <a:t>Trainiert mit den gespeicherten History-Ergebnissen.</a:t>
            </a:r>
            <a:endParaRPr lang="de-DE" sz="1300" dirty="0"/>
          </a:p>
        </p:txBody>
      </p:sp>
      <p:sp>
        <p:nvSpPr>
          <p:cNvPr id="13" name="Step arrow"/>
          <p:cNvSpPr/>
          <p:nvPr/>
        </p:nvSpPr>
        <p:spPr>
          <a:xfrm>
            <a:off x="4434840" y="2971800"/>
            <a:ext cx="27432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al Tool">
  <a:themeElements>
    <a:clrScheme name="Eval Tool">
      <a:dk1>
        <a:srgbClr val="1B2333"/>
      </a:dk1>
      <a:lt1>
        <a:srgbClr val="FFFFFF"/>
      </a:lt1>
      <a:dk2>
        <a:srgbClr val="1F2A40"/>
      </a:dk2>
      <a:lt2>
        <a:srgbClr val="EEF1F4"/>
      </a:lt2>
      <a:accent1>
        <a:srgbClr val="2BA58A"/>
      </a:accent1>
      <a:accent2>
        <a:srgbClr val="B5651D"/>
      </a:accent2>
      <a:accent3>
        <a:srgbClr val="4CCEAC"/>
      </a:accent3>
      <a:accent4>
        <a:srgbClr val="5A6B7E"/>
      </a:accent4>
      <a:accent5>
        <a:srgbClr val="D7E0E3"/>
      </a:accent5>
      <a:accent6>
        <a:srgbClr val="8A4A14"/>
      </a:accent6>
      <a:hlink>
        <a:srgbClr val="2BA58A"/>
      </a:hlink>
      <a:folHlink>
        <a:srgbClr val="8A4A14"/>
      </a:folHlink>
    </a:clrScheme>
    <a:fontScheme name="Eval Too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763</Words>
  <Application>Microsoft Office PowerPoint</Application>
  <PresentationFormat>On-screen Show (16:9)</PresentationFormat>
  <Paragraphs>112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Eval Tool</vt:lpstr>
      <vt:lpstr>ICELAB Eval Tool</vt:lpstr>
      <vt:lpstr>From raw tribometer file to CoF in one pass</vt:lpstr>
      <vt:lpstr>How the CoF is measured</vt:lpstr>
      <vt:lpstr>A test is a sequence of steps</vt:lpstr>
      <vt:lpstr>Offset &amp; filter</vt:lpstr>
      <vt:lpstr>Zero crossings</vt:lpstr>
      <vt:lpstr>Static and dynamic CoF in one cycle</vt:lpstr>
      <vt:lpstr>What the tool already does</vt:lpstr>
      <vt:lpstr>Analysis tab</vt:lpstr>
      <vt:lpstr>History tab</vt:lpstr>
      <vt:lpstr>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ICELAB Eval Tool - Stand und nächste Schritte</dc:title>
  <dc:subject>PptxGenJS Presentation</dc:subject>
  <dc:creator>Rashid</dc:creator>
  <cp:lastModifiedBy>Rashid Kazemi</cp:lastModifiedBy>
  <cp:revision>4</cp:revision>
  <dcterms:created xsi:type="dcterms:W3CDTF">2026-10-06T08:26:17Z</dcterms:created>
  <dcterms:modified xsi:type="dcterms:W3CDTF">2026-10-06T08:46:53Z</dcterms:modified>
</cp:coreProperties>
</file>